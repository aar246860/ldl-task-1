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sldIdLst>
    <p:sldId id="256" r:id="rId2"/>
    <p:sldId id="257" r:id="rId3"/>
    <p:sldId id="258" r:id="rId4"/>
    <p:sldId id="259" r:id="rId5"/>
    <p:sldId id="260" r:id="rId6"/>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66FFCC"/>
    <a:srgbClr val="00FFFF"/>
    <a:srgbClr val="FFDD4F"/>
    <a:srgbClr val="FFFFFF"/>
    <a:srgbClr val="6ADD4B"/>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p:scale>
          <a:sx n="22" d="100"/>
          <a:sy n="22" d="100"/>
        </p:scale>
        <p:origin x="1485" y="-1908"/>
      </p:cViewPr>
      <p:guideLst>
        <p:guide orient="horz" pos="13482"/>
        <p:guide pos="95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270642" y="7005158"/>
            <a:ext cx="25733931" cy="14902050"/>
          </a:xfrm>
        </p:spPr>
        <p:txBody>
          <a:bodyPr anchor="b"/>
          <a:lstStyle>
            <a:lvl1pPr algn="ctr">
              <a:defRPr sz="19865"/>
            </a:lvl1pPr>
          </a:lstStyle>
          <a:p>
            <a:r>
              <a:rPr lang="zh-TW" altLang="en-US"/>
              <a:t>按一下以編輯母片標題樣式</a:t>
            </a:r>
            <a:endParaRPr lang="en-US" dirty="0"/>
          </a:p>
        </p:txBody>
      </p:sp>
      <p:sp>
        <p:nvSpPr>
          <p:cNvPr id="3" name="Subtitle 2"/>
          <p:cNvSpPr>
            <a:spLocks noGrp="1"/>
          </p:cNvSpPr>
          <p:nvPr>
            <p:ph type="subTitle" idx="1"/>
          </p:nvPr>
        </p:nvSpPr>
        <p:spPr>
          <a:xfrm>
            <a:off x="3784403" y="22481889"/>
            <a:ext cx="22706410" cy="10334331"/>
          </a:xfrm>
        </p:spPr>
        <p:txBody>
          <a:bodyPr/>
          <a:lstStyle>
            <a:lvl1pPr marL="0" indent="0" algn="ctr">
              <a:buNone/>
              <a:defRPr sz="7946"/>
            </a:lvl1pPr>
            <a:lvl2pPr marL="1513746" indent="0" algn="ctr">
              <a:buNone/>
              <a:defRPr sz="6622"/>
            </a:lvl2pPr>
            <a:lvl3pPr marL="3027493" indent="0" algn="ctr">
              <a:buNone/>
              <a:defRPr sz="5960"/>
            </a:lvl3pPr>
            <a:lvl4pPr marL="4541239" indent="0" algn="ctr">
              <a:buNone/>
              <a:defRPr sz="5297"/>
            </a:lvl4pPr>
            <a:lvl5pPr marL="6054986" indent="0" algn="ctr">
              <a:buNone/>
              <a:defRPr sz="5297"/>
            </a:lvl5pPr>
            <a:lvl6pPr marL="7568732" indent="0" algn="ctr">
              <a:buNone/>
              <a:defRPr sz="5297"/>
            </a:lvl6pPr>
            <a:lvl7pPr marL="9082479" indent="0" algn="ctr">
              <a:buNone/>
              <a:defRPr sz="5297"/>
            </a:lvl7pPr>
            <a:lvl8pPr marL="10596225" indent="0" algn="ctr">
              <a:buNone/>
              <a:defRPr sz="5297"/>
            </a:lvl8pPr>
            <a:lvl9pPr marL="12109973" indent="0" algn="ctr">
              <a:buNone/>
              <a:defRPr sz="5297"/>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66409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212606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31"/>
            <a:ext cx="26112371" cy="17805173"/>
          </a:xfrm>
        </p:spPr>
        <p:txBody>
          <a:bodyPr anchor="b"/>
          <a:lstStyle>
            <a:lvl1pPr>
              <a:defRPr sz="19865"/>
            </a:lvl1pPr>
          </a:lstStyle>
          <a:p>
            <a:r>
              <a:rPr lang="zh-TW" altLang="en-US"/>
              <a:t>按一下以編輯母片標題樣式</a:t>
            </a:r>
            <a:endParaRPr lang="en-US" dirty="0"/>
          </a:p>
        </p:txBody>
      </p:sp>
      <p:sp>
        <p:nvSpPr>
          <p:cNvPr id="3" name="Text Placeholder 2"/>
          <p:cNvSpPr>
            <a:spLocks noGrp="1"/>
          </p:cNvSpPr>
          <p:nvPr>
            <p:ph type="body" idx="1"/>
          </p:nvPr>
        </p:nvSpPr>
        <p:spPr>
          <a:xfrm>
            <a:off x="2065654" y="28644846"/>
            <a:ext cx="26112371" cy="9363321"/>
          </a:xfrm>
        </p:spPr>
        <p:txBody>
          <a:bodyPr/>
          <a:lstStyle>
            <a:lvl1pPr marL="0" indent="0">
              <a:buNone/>
              <a:defRPr sz="7946">
                <a:solidFill>
                  <a:schemeClr val="tx1"/>
                </a:solidFill>
              </a:defRPr>
            </a:lvl1pPr>
            <a:lvl2pPr marL="1513746" indent="0">
              <a:buNone/>
              <a:defRPr sz="6622">
                <a:solidFill>
                  <a:schemeClr val="tx1">
                    <a:tint val="75000"/>
                  </a:schemeClr>
                </a:solidFill>
              </a:defRPr>
            </a:lvl2pPr>
            <a:lvl3pPr marL="3027493" indent="0">
              <a:buNone/>
              <a:defRPr sz="5960">
                <a:solidFill>
                  <a:schemeClr val="tx1">
                    <a:tint val="75000"/>
                  </a:schemeClr>
                </a:solidFill>
              </a:defRPr>
            </a:lvl3pPr>
            <a:lvl4pPr marL="4541239" indent="0">
              <a:buNone/>
              <a:defRPr sz="5297">
                <a:solidFill>
                  <a:schemeClr val="tx1">
                    <a:tint val="75000"/>
                  </a:schemeClr>
                </a:solidFill>
              </a:defRPr>
            </a:lvl4pPr>
            <a:lvl5pPr marL="6054986" indent="0">
              <a:buNone/>
              <a:defRPr sz="5297">
                <a:solidFill>
                  <a:schemeClr val="tx1">
                    <a:tint val="75000"/>
                  </a:schemeClr>
                </a:solidFill>
              </a:defRPr>
            </a:lvl5pPr>
            <a:lvl6pPr marL="7568732" indent="0">
              <a:buNone/>
              <a:defRPr sz="5297">
                <a:solidFill>
                  <a:schemeClr val="tx1">
                    <a:tint val="75000"/>
                  </a:schemeClr>
                </a:solidFill>
              </a:defRPr>
            </a:lvl6pPr>
            <a:lvl7pPr marL="9082479" indent="0">
              <a:buNone/>
              <a:defRPr sz="5297">
                <a:solidFill>
                  <a:schemeClr val="tx1">
                    <a:tint val="75000"/>
                  </a:schemeClr>
                </a:solidFill>
              </a:defRPr>
            </a:lvl7pPr>
            <a:lvl8pPr marL="10596225" indent="0">
              <a:buNone/>
              <a:defRPr sz="5297">
                <a:solidFill>
                  <a:schemeClr val="tx1">
                    <a:tint val="75000"/>
                  </a:schemeClr>
                </a:solidFill>
              </a:defRPr>
            </a:lvl8pPr>
            <a:lvl9pPr marL="12109973" indent="0">
              <a:buNone/>
              <a:defRPr sz="5297">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2326961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2081422" y="11394520"/>
            <a:ext cx="12866966" cy="2715859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1438134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4"/>
            <a:ext cx="26112371" cy="8273416"/>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2085368" y="10492871"/>
            <a:ext cx="12807832" cy="5142393"/>
          </a:xfrm>
        </p:spPr>
        <p:txBody>
          <a:bodyPr anchor="b"/>
          <a:lstStyle>
            <a:lvl1pPr marL="0" indent="0">
              <a:buNone/>
              <a:defRPr sz="7946" b="1"/>
            </a:lvl1pPr>
            <a:lvl2pPr marL="1513746" indent="0">
              <a:buNone/>
              <a:defRPr sz="6622" b="1"/>
            </a:lvl2pPr>
            <a:lvl3pPr marL="3027493" indent="0">
              <a:buNone/>
              <a:defRPr sz="5960" b="1"/>
            </a:lvl3pPr>
            <a:lvl4pPr marL="4541239" indent="0">
              <a:buNone/>
              <a:defRPr sz="5297" b="1"/>
            </a:lvl4pPr>
            <a:lvl5pPr marL="6054986" indent="0">
              <a:buNone/>
              <a:defRPr sz="5297" b="1"/>
            </a:lvl5pPr>
            <a:lvl6pPr marL="7568732" indent="0">
              <a:buNone/>
              <a:defRPr sz="5297" b="1"/>
            </a:lvl6pPr>
            <a:lvl7pPr marL="9082479" indent="0">
              <a:buNone/>
              <a:defRPr sz="5297" b="1"/>
            </a:lvl7pPr>
            <a:lvl8pPr marL="10596225" indent="0">
              <a:buNone/>
              <a:defRPr sz="5297" b="1"/>
            </a:lvl8pPr>
            <a:lvl9pPr marL="12109973" indent="0">
              <a:buNone/>
              <a:defRPr sz="5297" b="1"/>
            </a:lvl9pPr>
          </a:lstStyle>
          <a:p>
            <a:pPr lvl="0"/>
            <a:r>
              <a:rPr lang="zh-TW" altLang="en-US"/>
              <a:t>按一下以編輯母片文字樣式</a:t>
            </a:r>
          </a:p>
        </p:txBody>
      </p:sp>
      <p:sp>
        <p:nvSpPr>
          <p:cNvPr id="4" name="Content Placeholder 3"/>
          <p:cNvSpPr>
            <a:spLocks noGrp="1"/>
          </p:cNvSpPr>
          <p:nvPr>
            <p:ph sz="half" idx="2"/>
          </p:nvPr>
        </p:nvSpPr>
        <p:spPr>
          <a:xfrm>
            <a:off x="2085368" y="15635265"/>
            <a:ext cx="12807832" cy="2299711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15326829" y="10492871"/>
            <a:ext cx="12870909" cy="5142393"/>
          </a:xfrm>
        </p:spPr>
        <p:txBody>
          <a:bodyPr anchor="b"/>
          <a:lstStyle>
            <a:lvl1pPr marL="0" indent="0">
              <a:buNone/>
              <a:defRPr sz="7946" b="1"/>
            </a:lvl1pPr>
            <a:lvl2pPr marL="1513746" indent="0">
              <a:buNone/>
              <a:defRPr sz="6622" b="1"/>
            </a:lvl2pPr>
            <a:lvl3pPr marL="3027493" indent="0">
              <a:buNone/>
              <a:defRPr sz="5960" b="1"/>
            </a:lvl3pPr>
            <a:lvl4pPr marL="4541239" indent="0">
              <a:buNone/>
              <a:defRPr sz="5297" b="1"/>
            </a:lvl4pPr>
            <a:lvl5pPr marL="6054986" indent="0">
              <a:buNone/>
              <a:defRPr sz="5297" b="1"/>
            </a:lvl5pPr>
            <a:lvl6pPr marL="7568732" indent="0">
              <a:buNone/>
              <a:defRPr sz="5297" b="1"/>
            </a:lvl6pPr>
            <a:lvl7pPr marL="9082479" indent="0">
              <a:buNone/>
              <a:defRPr sz="5297" b="1"/>
            </a:lvl7pPr>
            <a:lvl8pPr marL="10596225" indent="0">
              <a:buNone/>
              <a:defRPr sz="5297" b="1"/>
            </a:lvl8pPr>
            <a:lvl9pPr marL="12109973" indent="0">
              <a:buNone/>
              <a:defRPr sz="5297" b="1"/>
            </a:lvl9pPr>
          </a:lstStyle>
          <a:p>
            <a:pPr lvl="0"/>
            <a:r>
              <a:rPr lang="zh-TW" altLang="en-US"/>
              <a:t>按一下以編輯母片文字樣式</a:t>
            </a:r>
          </a:p>
        </p:txBody>
      </p:sp>
      <p:sp>
        <p:nvSpPr>
          <p:cNvPr id="6" name="Content Placeholder 5"/>
          <p:cNvSpPr>
            <a:spLocks noGrp="1"/>
          </p:cNvSpPr>
          <p:nvPr>
            <p:ph sz="quarter" idx="4"/>
          </p:nvPr>
        </p:nvSpPr>
        <p:spPr>
          <a:xfrm>
            <a:off x="15326829" y="15635265"/>
            <a:ext cx="12870909" cy="2299711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413999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395585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774608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5"/>
            <a:ext cx="9764544" cy="9987546"/>
          </a:xfrm>
        </p:spPr>
        <p:txBody>
          <a:bodyPr anchor="b"/>
          <a:lstStyle>
            <a:lvl1pPr>
              <a:defRPr sz="10595"/>
            </a:lvl1pPr>
          </a:lstStyle>
          <a:p>
            <a:r>
              <a:rPr lang="zh-TW" altLang="en-US"/>
              <a:t>按一下以編輯母片標題樣式</a:t>
            </a:r>
            <a:endParaRPr lang="en-US" dirty="0"/>
          </a:p>
        </p:txBody>
      </p:sp>
      <p:sp>
        <p:nvSpPr>
          <p:cNvPr id="3" name="Content Placeholder 2"/>
          <p:cNvSpPr>
            <a:spLocks noGrp="1"/>
          </p:cNvSpPr>
          <p:nvPr>
            <p:ph idx="1"/>
          </p:nvPr>
        </p:nvSpPr>
        <p:spPr>
          <a:xfrm>
            <a:off x="12870910"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2085364" y="12841130"/>
            <a:ext cx="9764544" cy="23789780"/>
          </a:xfrm>
        </p:spPr>
        <p:txBody>
          <a:bodyPr/>
          <a:lstStyle>
            <a:lvl1pPr marL="0" indent="0">
              <a:buNone/>
              <a:defRPr sz="5297"/>
            </a:lvl1pPr>
            <a:lvl2pPr marL="1513746" indent="0">
              <a:buNone/>
              <a:defRPr sz="4635"/>
            </a:lvl2pPr>
            <a:lvl3pPr marL="3027493" indent="0">
              <a:buNone/>
              <a:defRPr sz="3973"/>
            </a:lvl3pPr>
            <a:lvl4pPr marL="4541239" indent="0">
              <a:buNone/>
              <a:defRPr sz="3311"/>
            </a:lvl4pPr>
            <a:lvl5pPr marL="6054986" indent="0">
              <a:buNone/>
              <a:defRPr sz="3311"/>
            </a:lvl5pPr>
            <a:lvl6pPr marL="7568732" indent="0">
              <a:buNone/>
              <a:defRPr sz="3311"/>
            </a:lvl6pPr>
            <a:lvl7pPr marL="9082479" indent="0">
              <a:buNone/>
              <a:defRPr sz="3311"/>
            </a:lvl7pPr>
            <a:lvl8pPr marL="10596225" indent="0">
              <a:buNone/>
              <a:defRPr sz="3311"/>
            </a:lvl8pPr>
            <a:lvl9pPr marL="12109973" indent="0">
              <a:buNone/>
              <a:defRPr sz="3311"/>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0025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5"/>
            <a:ext cx="9764544" cy="9987546"/>
          </a:xfrm>
        </p:spPr>
        <p:txBody>
          <a:bodyPr anchor="b"/>
          <a:lstStyle>
            <a:lvl1pPr>
              <a:defRPr sz="10595"/>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2870910" y="6162959"/>
            <a:ext cx="15326827" cy="30418415"/>
          </a:xfrm>
        </p:spPr>
        <p:txBody>
          <a:bodyPr anchor="t"/>
          <a:lstStyle>
            <a:lvl1pPr marL="0" indent="0">
              <a:buNone/>
              <a:defRPr sz="10595"/>
            </a:lvl1pPr>
            <a:lvl2pPr marL="1513746" indent="0">
              <a:buNone/>
              <a:defRPr sz="9271"/>
            </a:lvl2pPr>
            <a:lvl3pPr marL="3027493" indent="0">
              <a:buNone/>
              <a:defRPr sz="7946"/>
            </a:lvl3pPr>
            <a:lvl4pPr marL="4541239" indent="0">
              <a:buNone/>
              <a:defRPr sz="6622"/>
            </a:lvl4pPr>
            <a:lvl5pPr marL="6054986" indent="0">
              <a:buNone/>
              <a:defRPr sz="6622"/>
            </a:lvl5pPr>
            <a:lvl6pPr marL="7568732" indent="0">
              <a:buNone/>
              <a:defRPr sz="6622"/>
            </a:lvl6pPr>
            <a:lvl7pPr marL="9082479" indent="0">
              <a:buNone/>
              <a:defRPr sz="6622"/>
            </a:lvl7pPr>
            <a:lvl8pPr marL="10596225" indent="0">
              <a:buNone/>
              <a:defRPr sz="6622"/>
            </a:lvl8pPr>
            <a:lvl9pPr marL="12109973" indent="0">
              <a:buNone/>
              <a:defRPr sz="6622"/>
            </a:lvl9pPr>
          </a:lstStyle>
          <a:p>
            <a:r>
              <a:rPr lang="zh-TW" altLang="en-US"/>
              <a:t>按一下圖示以新增圖片</a:t>
            </a:r>
            <a:endParaRPr lang="en-US" dirty="0"/>
          </a:p>
        </p:txBody>
      </p:sp>
      <p:sp>
        <p:nvSpPr>
          <p:cNvPr id="4" name="Text Placeholder 3"/>
          <p:cNvSpPr>
            <a:spLocks noGrp="1"/>
          </p:cNvSpPr>
          <p:nvPr>
            <p:ph type="body" sz="half" idx="2"/>
          </p:nvPr>
        </p:nvSpPr>
        <p:spPr>
          <a:xfrm>
            <a:off x="2085364" y="12841130"/>
            <a:ext cx="9764544" cy="23789780"/>
          </a:xfrm>
        </p:spPr>
        <p:txBody>
          <a:bodyPr/>
          <a:lstStyle>
            <a:lvl1pPr marL="0" indent="0">
              <a:buNone/>
              <a:defRPr sz="5297"/>
            </a:lvl1pPr>
            <a:lvl2pPr marL="1513746" indent="0">
              <a:buNone/>
              <a:defRPr sz="4635"/>
            </a:lvl2pPr>
            <a:lvl3pPr marL="3027493" indent="0">
              <a:buNone/>
              <a:defRPr sz="3973"/>
            </a:lvl3pPr>
            <a:lvl4pPr marL="4541239" indent="0">
              <a:buNone/>
              <a:defRPr sz="3311"/>
            </a:lvl4pPr>
            <a:lvl5pPr marL="6054986" indent="0">
              <a:buNone/>
              <a:defRPr sz="3311"/>
            </a:lvl5pPr>
            <a:lvl6pPr marL="7568732" indent="0">
              <a:buNone/>
              <a:defRPr sz="3311"/>
            </a:lvl6pPr>
            <a:lvl7pPr marL="9082479" indent="0">
              <a:buNone/>
              <a:defRPr sz="3311"/>
            </a:lvl7pPr>
            <a:lvl8pPr marL="10596225" indent="0">
              <a:buNone/>
              <a:defRPr sz="3311"/>
            </a:lvl8pPr>
            <a:lvl9pPr marL="12109973" indent="0">
              <a:buNone/>
              <a:defRPr sz="3311"/>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1104921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4078267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2" y="2278904"/>
            <a:ext cx="6528093" cy="3627421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2026/7/3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2433372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4"/>
            <a:ext cx="26112371" cy="827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2081422"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921A011F-C530-43EA-BA3F-FEB26DFCEB05}" type="datetimeFigureOut">
              <a:rPr lang="zh-TW" altLang="en-US" smtClean="0"/>
              <a:t>2026/7/3</a:t>
            </a:fld>
            <a:endParaRPr lang="zh-TW" altLang="en-US"/>
          </a:p>
        </p:txBody>
      </p:sp>
      <p:sp>
        <p:nvSpPr>
          <p:cNvPr id="5" name="Footer Placeholder 4"/>
          <p:cNvSpPr>
            <a:spLocks noGrp="1"/>
          </p:cNvSpPr>
          <p:nvPr>
            <p:ph type="ftr" sz="quarter" idx="3"/>
          </p:nvPr>
        </p:nvSpPr>
        <p:spPr>
          <a:xfrm>
            <a:off x="10028666"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010301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93"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3" indent="-756873" algn="l" defTabSz="3027493"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20" indent="-756873" algn="l" defTabSz="3027493"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66" indent="-756873" algn="l" defTabSz="3027493"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13"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60"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606"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53"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99"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46"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93" rtl="0" eaLnBrk="1" latinLnBrk="0" hangingPunct="1">
        <a:defRPr sz="5960" kern="1200">
          <a:solidFill>
            <a:schemeClr val="tx1"/>
          </a:solidFill>
          <a:latin typeface="+mn-lt"/>
          <a:ea typeface="+mn-ea"/>
          <a:cs typeface="+mn-cs"/>
        </a:defRPr>
      </a:lvl1pPr>
      <a:lvl2pPr marL="1513746" algn="l" defTabSz="3027493" rtl="0" eaLnBrk="1" latinLnBrk="0" hangingPunct="1">
        <a:defRPr sz="5960" kern="1200">
          <a:solidFill>
            <a:schemeClr val="tx1"/>
          </a:solidFill>
          <a:latin typeface="+mn-lt"/>
          <a:ea typeface="+mn-ea"/>
          <a:cs typeface="+mn-cs"/>
        </a:defRPr>
      </a:lvl2pPr>
      <a:lvl3pPr marL="3027493" algn="l" defTabSz="3027493" rtl="0" eaLnBrk="1" latinLnBrk="0" hangingPunct="1">
        <a:defRPr sz="5960" kern="1200">
          <a:solidFill>
            <a:schemeClr val="tx1"/>
          </a:solidFill>
          <a:latin typeface="+mn-lt"/>
          <a:ea typeface="+mn-ea"/>
          <a:cs typeface="+mn-cs"/>
        </a:defRPr>
      </a:lvl3pPr>
      <a:lvl4pPr marL="4541239" algn="l" defTabSz="3027493" rtl="0" eaLnBrk="1" latinLnBrk="0" hangingPunct="1">
        <a:defRPr sz="5960" kern="1200">
          <a:solidFill>
            <a:schemeClr val="tx1"/>
          </a:solidFill>
          <a:latin typeface="+mn-lt"/>
          <a:ea typeface="+mn-ea"/>
          <a:cs typeface="+mn-cs"/>
        </a:defRPr>
      </a:lvl4pPr>
      <a:lvl5pPr marL="6054986" algn="l" defTabSz="3027493" rtl="0" eaLnBrk="1" latinLnBrk="0" hangingPunct="1">
        <a:defRPr sz="5960" kern="1200">
          <a:solidFill>
            <a:schemeClr val="tx1"/>
          </a:solidFill>
          <a:latin typeface="+mn-lt"/>
          <a:ea typeface="+mn-ea"/>
          <a:cs typeface="+mn-cs"/>
        </a:defRPr>
      </a:lvl5pPr>
      <a:lvl6pPr marL="7568732" algn="l" defTabSz="3027493" rtl="0" eaLnBrk="1" latinLnBrk="0" hangingPunct="1">
        <a:defRPr sz="5960" kern="1200">
          <a:solidFill>
            <a:schemeClr val="tx1"/>
          </a:solidFill>
          <a:latin typeface="+mn-lt"/>
          <a:ea typeface="+mn-ea"/>
          <a:cs typeface="+mn-cs"/>
        </a:defRPr>
      </a:lvl6pPr>
      <a:lvl7pPr marL="9082479" algn="l" defTabSz="3027493" rtl="0" eaLnBrk="1" latinLnBrk="0" hangingPunct="1">
        <a:defRPr sz="5960" kern="1200">
          <a:solidFill>
            <a:schemeClr val="tx1"/>
          </a:solidFill>
          <a:latin typeface="+mn-lt"/>
          <a:ea typeface="+mn-ea"/>
          <a:cs typeface="+mn-cs"/>
        </a:defRPr>
      </a:lvl7pPr>
      <a:lvl8pPr marL="10596225" algn="l" defTabSz="3027493" rtl="0" eaLnBrk="1" latinLnBrk="0" hangingPunct="1">
        <a:defRPr sz="5960" kern="1200">
          <a:solidFill>
            <a:schemeClr val="tx1"/>
          </a:solidFill>
          <a:latin typeface="+mn-lt"/>
          <a:ea typeface="+mn-ea"/>
          <a:cs typeface="+mn-cs"/>
        </a:defRPr>
      </a:lvl8pPr>
      <a:lvl9pPr marL="12109973" algn="l" defTabSz="3027493"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usgs.gov/data/multiple-well-aquifer-test-data-boreholes-nrf-17-and-nrf-18-idaho-national-laboratory-idaho" TargetMode="External"/><Relationship Id="rId7" Type="http://schemas.openxmlformats.org/officeDocument/2006/relationships/hyperlink" Target="&#22320;&#19979;&#27700;&#25976;&#25818;&#38598;-2.csv.pdf" TargetMode="External"/><Relationship Id="rId2" Type="http://schemas.openxmlformats.org/officeDocument/2006/relationships/hyperlink" Target="https://canva.link/gqx07u933d9hg1x" TargetMode="External"/><Relationship Id="rId1" Type="http://schemas.openxmlformats.org/officeDocument/2006/relationships/slideLayout" Target="../slideLayouts/slideLayout2.xml"/><Relationship Id="rId6" Type="http://schemas.openxmlformats.org/officeDocument/2006/relationships/hyperlink" Target="https://www.usgs.gov/publications/pumping-test-eocene-aquifer-near-mayfield-kentucky" TargetMode="External"/><Relationship Id="rId5" Type="http://schemas.openxmlformats.org/officeDocument/2006/relationships/hyperlink" Target="https://www.usgs.gov/publications/results-pumping-test-city-well-four-pullman-washington" TargetMode="External"/><Relationship Id="rId4" Type="http://schemas.openxmlformats.org/officeDocument/2006/relationships/hyperlink" Target="https://www.usgs.gov/publications/memorandum-pumping-test-ambridge-pennsylvania"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usgs.gov/publications/memorandum-pumping-test-ambridge-pennsylvania" TargetMode="External"/><Relationship Id="rId2" Type="http://schemas.openxmlformats.org/officeDocument/2006/relationships/hyperlink" Target="https://www.usgs.gov/data/multiple-well-aquifer-test-data-boreholes-nrf-17-and-nrf-18-idaho-national-laboratory-idaho" TargetMode="External"/><Relationship Id="rId1" Type="http://schemas.openxmlformats.org/officeDocument/2006/relationships/slideLayout" Target="../slideLayouts/slideLayout2.xml"/><Relationship Id="rId6" Type="http://schemas.openxmlformats.org/officeDocument/2006/relationships/hyperlink" Target="&#22320;&#19979;&#27700;&#25976;&#25818;&#38598;-2.csv.pdf" TargetMode="External"/><Relationship Id="rId5" Type="http://schemas.openxmlformats.org/officeDocument/2006/relationships/hyperlink" Target="https://www.usgs.gov/publications/pumping-test-eocene-aquifer-near-mayfield-kentucky" TargetMode="External"/><Relationship Id="rId4" Type="http://schemas.openxmlformats.org/officeDocument/2006/relationships/hyperlink" Target="https://www.usgs.gov/publications/results-pumping-test-city-well-four-pullman-washington"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usgs.gov/publications/memorandum-pumping-test-ambridge-pennsylvania" TargetMode="External"/><Relationship Id="rId2" Type="http://schemas.openxmlformats.org/officeDocument/2006/relationships/hyperlink" Target="https://www.usgs.gov/data/multiple-well-aquifer-test-data-boreholes-nrf-17-and-nrf-18-idaho-national-laboratory-idaho" TargetMode="External"/><Relationship Id="rId1" Type="http://schemas.openxmlformats.org/officeDocument/2006/relationships/slideLayout" Target="../slideLayouts/slideLayout2.xml"/><Relationship Id="rId6" Type="http://schemas.openxmlformats.org/officeDocument/2006/relationships/hyperlink" Target="&#22320;&#19979;&#27700;&#25976;&#25818;&#38598;-2.csv.pdf" TargetMode="External"/><Relationship Id="rId5" Type="http://schemas.openxmlformats.org/officeDocument/2006/relationships/hyperlink" Target="https://www.usgs.gov/publications/pumping-test-eocene-aquifer-near-mayfield-kentucky" TargetMode="External"/><Relationship Id="rId4" Type="http://schemas.openxmlformats.org/officeDocument/2006/relationships/hyperlink" Target="https://www.usgs.gov/publications/results-pumping-test-city-well-four-pullman-washingt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9D934DFC-EE7D-5EAA-0F52-F5651A247DCE}"/>
              </a:ext>
            </a:extLst>
          </p:cNvPr>
          <p:cNvPicPr>
            <a:picLocks noChangeAspect="1"/>
          </p:cNvPicPr>
          <p:nvPr/>
        </p:nvPicPr>
        <p:blipFill>
          <a:blip r:embed="rId2"/>
          <a:stretch>
            <a:fillRect/>
          </a:stretch>
        </p:blipFill>
        <p:spPr>
          <a:xfrm>
            <a:off x="1" y="-5141"/>
            <a:ext cx="30275212" cy="42808904"/>
          </a:xfrm>
          <a:prstGeom prst="rect">
            <a:avLst/>
          </a:prstGeom>
        </p:spPr>
      </p:pic>
      <p:sp>
        <p:nvSpPr>
          <p:cNvPr id="3" name="矩形: 圓角 2">
            <a:extLst>
              <a:ext uri="{FF2B5EF4-FFF2-40B4-BE49-F238E27FC236}">
                <a16:creationId xmlns:a16="http://schemas.microsoft.com/office/drawing/2014/main" id="{3A1DA046-8C99-2F3F-832B-58FC6B24A452}"/>
              </a:ext>
            </a:extLst>
          </p:cNvPr>
          <p:cNvSpPr/>
          <p:nvPr/>
        </p:nvSpPr>
        <p:spPr>
          <a:xfrm>
            <a:off x="252499" y="5409684"/>
            <a:ext cx="17012792" cy="7876059"/>
          </a:xfrm>
          <a:prstGeom prst="roundRect">
            <a:avLst/>
          </a:prstGeom>
          <a:solidFill>
            <a:schemeClr val="bg1">
              <a:alpha val="60000"/>
            </a:schemeClr>
          </a:solidFill>
          <a:ln w="762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10" name="矩形: 圓角 9">
            <a:extLst>
              <a:ext uri="{FF2B5EF4-FFF2-40B4-BE49-F238E27FC236}">
                <a16:creationId xmlns:a16="http://schemas.microsoft.com/office/drawing/2014/main" id="{1E23B8AC-354E-2A5C-D8D6-3E6D99330EA5}"/>
              </a:ext>
            </a:extLst>
          </p:cNvPr>
          <p:cNvSpPr/>
          <p:nvPr/>
        </p:nvSpPr>
        <p:spPr>
          <a:xfrm>
            <a:off x="252499" y="14418209"/>
            <a:ext cx="17012792" cy="7942875"/>
          </a:xfrm>
          <a:prstGeom prst="roundRect">
            <a:avLst/>
          </a:prstGeom>
          <a:solidFill>
            <a:srgbClr val="FFFFFF">
              <a:alpha val="60000"/>
            </a:srgb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6" name="Rectangle 2">
            <a:extLst>
              <a:ext uri="{FF2B5EF4-FFF2-40B4-BE49-F238E27FC236}">
                <a16:creationId xmlns:a16="http://schemas.microsoft.com/office/drawing/2014/main" id="{EF67AA7F-142E-5277-AF8D-AF641B45FA46}"/>
              </a:ext>
            </a:extLst>
          </p:cNvPr>
          <p:cNvSpPr>
            <a:spLocks noChangeArrowheads="1"/>
          </p:cNvSpPr>
          <p:nvPr/>
        </p:nvSpPr>
        <p:spPr bwMode="auto">
          <a:xfrm>
            <a:off x="1254134" y="5801551"/>
            <a:ext cx="15147009" cy="7627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00" tIns="45300" rIns="90600" bIns="453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05990"/>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首先我們從論文中得到，從達西定律出發，加入了τ</a:t>
            </a:r>
            <a:r>
              <a:rPr lang="en-US" altLang="zh-TW" sz="3470" baseline="-25000" dirty="0">
                <a:latin typeface="標楷體" panose="03000509000000000000" pitchFamily="65" charset="-120"/>
                <a:ea typeface="標楷體" panose="03000509000000000000" pitchFamily="65" charset="-120"/>
              </a:rPr>
              <a:t>q</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水流慣性</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與τ</a:t>
            </a:r>
            <a:r>
              <a:rPr lang="en-US" altLang="zh-TW" sz="3470" baseline="-25000" dirty="0">
                <a:latin typeface="標楷體" panose="03000509000000000000" pitchFamily="65" charset="-120"/>
                <a:ea typeface="標楷體" panose="03000509000000000000" pitchFamily="65" charset="-120"/>
              </a:rPr>
              <a:t>s</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結構延遲</a:t>
            </a:r>
            <a:r>
              <a:rPr lang="en-US" altLang="zh-TW" sz="3470" dirty="0">
                <a:latin typeface="標楷體" panose="03000509000000000000" pitchFamily="65" charset="-120"/>
                <a:ea typeface="標楷體" panose="03000509000000000000" pitchFamily="65" charset="-120"/>
              </a:rPr>
              <a:t>)</a:t>
            </a:r>
            <a:r>
              <a:rPr lang="zh-TW" altLang="zh-TW" sz="3470" dirty="0">
                <a:latin typeface="標楷體" panose="03000509000000000000" pitchFamily="65" charset="-120"/>
                <a:ea typeface="標楷體" panose="03000509000000000000" pitchFamily="65" charset="-120"/>
              </a:rPr>
              <a:t>因素，能夠更加準確反映洩降時間延遲之狀況的廣義達西定律。接著以論文中得到的廣義達西定律引入地下水流方程式，在</a:t>
            </a:r>
            <a:r>
              <a:rPr lang="en-US" altLang="zh-TW" sz="3470" dirty="0">
                <a:latin typeface="標楷體" panose="03000509000000000000" pitchFamily="65" charset="-120"/>
                <a:ea typeface="標楷體" panose="03000509000000000000" pitchFamily="65" charset="-120"/>
              </a:rPr>
              <a:t>Python</a:t>
            </a:r>
            <a:r>
              <a:rPr lang="zh-TW" altLang="zh-TW" sz="3470" dirty="0">
                <a:latin typeface="標楷體" panose="03000509000000000000" pitchFamily="65" charset="-120"/>
                <a:ea typeface="標楷體" panose="03000509000000000000" pitchFamily="65" charset="-120"/>
              </a:rPr>
              <a:t>中寫出波動型模型【</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模型】。以此模型為基礎，加入統計的誤差指標，</a:t>
            </a:r>
            <a:r>
              <a:rPr lang="en-US" altLang="zh-TW" sz="3470" dirty="0">
                <a:latin typeface="標楷體" panose="03000509000000000000" pitchFamily="65" charset="-120"/>
                <a:ea typeface="標楷體" panose="03000509000000000000" pitchFamily="65" charset="-120"/>
              </a:rPr>
              <a:t>MSE / RMSE</a:t>
            </a:r>
            <a:r>
              <a:rPr lang="zh-TW" altLang="zh-TW" sz="3470" dirty="0">
                <a:latin typeface="標楷體" panose="03000509000000000000" pitchFamily="65" charset="-120"/>
                <a:ea typeface="標楷體" panose="03000509000000000000" pitchFamily="65" charset="-120"/>
              </a:rPr>
              <a:t>，反映預測曲線與實測數據點之間的幾何距離。還有</a:t>
            </a:r>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評估擬合精確度與</a:t>
            </a:r>
            <a:r>
              <a:rPr lang="en-US" altLang="zh-TW" sz="3470" dirty="0">
                <a:latin typeface="標楷體" panose="03000509000000000000" pitchFamily="65" charset="-120"/>
                <a:ea typeface="標楷體" panose="03000509000000000000" pitchFamily="65" charset="-120"/>
              </a:rPr>
              <a:t>ME</a:t>
            </a:r>
            <a:r>
              <a:rPr lang="zh-TW" altLang="zh-TW" sz="3470" dirty="0">
                <a:latin typeface="標楷體" panose="03000509000000000000" pitchFamily="65" charset="-120"/>
                <a:ea typeface="標楷體" panose="03000509000000000000" pitchFamily="65" charset="-120"/>
              </a:rPr>
              <a:t>檢查模型是否存在系統性偏差。接著藉由</a:t>
            </a:r>
            <a:r>
              <a:rPr lang="en-US" altLang="zh-TW" sz="3470" dirty="0">
                <a:latin typeface="標楷體" panose="03000509000000000000" pitchFamily="65" charset="-120"/>
                <a:ea typeface="標楷體" panose="03000509000000000000" pitchFamily="65" charset="-120"/>
              </a:rPr>
              <a:t>Python</a:t>
            </a:r>
            <a:r>
              <a:rPr lang="zh-TW" altLang="zh-TW" sz="3470" dirty="0">
                <a:latin typeface="標楷體" panose="03000509000000000000" pitchFamily="65" charset="-120"/>
                <a:ea typeface="標楷體" panose="03000509000000000000" pitchFamily="65" charset="-120"/>
              </a:rPr>
              <a:t>自動化流程，讓電腦程式跑出多個帶有隨機雜訊的結果，模擬現實世界中儀器觀測的不完美性。再以呼叫</a:t>
            </a:r>
            <a:r>
              <a:rPr lang="en-US" altLang="zh-TW" sz="3470" dirty="0">
                <a:latin typeface="標楷體" panose="03000509000000000000" pitchFamily="65" charset="-120"/>
                <a:ea typeface="標楷體" panose="03000509000000000000" pitchFamily="65" charset="-120"/>
              </a:rPr>
              <a:t> </a:t>
            </a:r>
            <a:r>
              <a:rPr lang="en-US" altLang="zh-TW" sz="3470" dirty="0" err="1">
                <a:latin typeface="標楷體" panose="03000509000000000000" pitchFamily="65" charset="-120"/>
                <a:ea typeface="標楷體" panose="03000509000000000000" pitchFamily="65" charset="-120"/>
              </a:rPr>
              <a:t>scipy.optimize.curve_fit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並採用</a:t>
            </a:r>
            <a:r>
              <a:rPr lang="en-US" altLang="zh-TW" sz="3470" dirty="0">
                <a:latin typeface="標楷體" panose="03000509000000000000" pitchFamily="65" charset="-120"/>
                <a:ea typeface="標楷體" panose="03000509000000000000" pitchFamily="65" charset="-120"/>
              </a:rPr>
              <a:t> Levenberg-Marquardt </a:t>
            </a:r>
            <a:r>
              <a:rPr lang="zh-TW" altLang="zh-TW" sz="3470" dirty="0">
                <a:latin typeface="標楷體" panose="03000509000000000000" pitchFamily="65" charset="-120"/>
                <a:ea typeface="標楷體" panose="03000509000000000000" pitchFamily="65" charset="-120"/>
              </a:rPr>
              <a:t>演算法，不斷調整四個參數，找到一組數字，讓預測結果與帶雜訊數據間的</a:t>
            </a:r>
            <a:r>
              <a:rPr lang="en-US" altLang="zh-TW" sz="3470" dirty="0">
                <a:latin typeface="標楷體" panose="03000509000000000000" pitchFamily="65" charset="-120"/>
                <a:ea typeface="標楷體" panose="03000509000000000000" pitchFamily="65" charset="-120"/>
              </a:rPr>
              <a:t> SEE </a:t>
            </a:r>
            <a:r>
              <a:rPr lang="zh-TW" altLang="zh-TW" sz="3470" dirty="0">
                <a:latin typeface="標楷體" panose="03000509000000000000" pitchFamily="65" charset="-120"/>
                <a:ea typeface="標楷體" panose="03000509000000000000" pitchFamily="65" charset="-120"/>
              </a:rPr>
              <a:t>降至最低，使模型結果能更貼合現實狀況。分析此模型，我們能得出引導工程決策的重要結論，延滯效應在抽水早期影響最為顯著，水位降對導水係數</a:t>
            </a:r>
            <a:r>
              <a:rPr lang="en-US" altLang="zh-TW" sz="3470" dirty="0">
                <a:latin typeface="標楷體" panose="03000509000000000000" pitchFamily="65" charset="-120"/>
                <a:ea typeface="標楷體" panose="03000509000000000000" pitchFamily="65" charset="-120"/>
              </a:rPr>
              <a:t>T</a:t>
            </a:r>
            <a:r>
              <a:rPr lang="zh-TW" altLang="zh-TW" sz="3470" dirty="0">
                <a:latin typeface="標楷體" panose="03000509000000000000" pitchFamily="65" charset="-120"/>
                <a:ea typeface="標楷體" panose="03000509000000000000" pitchFamily="65" charset="-120"/>
              </a:rPr>
              <a:t>的變化最為敏感，估出的數值通常最為穩定且準確，能精確還原這段時間的數據細節，反映出更貼合現實的模型。</a:t>
            </a:r>
          </a:p>
          <a:p>
            <a:pPr algn="just" defTabSz="905990"/>
            <a:endParaRPr lang="zh-TW" altLang="en-US" sz="2081" dirty="0">
              <a:latin typeface="標楷體" panose="03000509000000000000" pitchFamily="65" charset="-120"/>
              <a:ea typeface="標楷體" panose="03000509000000000000" pitchFamily="65" charset="-120"/>
              <a:cs typeface="Arial" panose="020B0604020202020204" pitchFamily="34" charset="0"/>
            </a:endParaRPr>
          </a:p>
          <a:p>
            <a:pPr indent="301997" defTabSz="905990"/>
            <a:endParaRPr lang="zh-TW" altLang="en-US" sz="1783" dirty="0">
              <a:latin typeface="標楷體" panose="03000509000000000000" pitchFamily="65" charset="-120"/>
              <a:ea typeface="標楷體" panose="03000509000000000000" pitchFamily="65" charset="-120"/>
            </a:endParaRPr>
          </a:p>
        </p:txBody>
      </p:sp>
      <p:sp>
        <p:nvSpPr>
          <p:cNvPr id="15" name="Rectangle 8">
            <a:extLst>
              <a:ext uri="{FF2B5EF4-FFF2-40B4-BE49-F238E27FC236}">
                <a16:creationId xmlns:a16="http://schemas.microsoft.com/office/drawing/2014/main" id="{D65199BD-28E2-B07F-FB1A-C91C6D8B04A8}"/>
              </a:ext>
            </a:extLst>
          </p:cNvPr>
          <p:cNvSpPr>
            <a:spLocks noChangeArrowheads="1"/>
          </p:cNvSpPr>
          <p:nvPr/>
        </p:nvSpPr>
        <p:spPr bwMode="auto">
          <a:xfrm>
            <a:off x="3545219" y="-197423"/>
            <a:ext cx="183034" cy="36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600" tIns="45300" rIns="90600" bIns="45300" numCol="1" anchor="ctr" anchorCtr="0" compatLnSpc="1">
            <a:prstTxWarp prst="textNoShape">
              <a:avLst/>
            </a:prstTxWarp>
            <a:spAutoFit/>
          </a:bodyPr>
          <a:lstStyle/>
          <a:p>
            <a:endParaRPr lang="zh-TW" altLang="en-US" sz="1783"/>
          </a:p>
        </p:txBody>
      </p:sp>
      <p:sp>
        <p:nvSpPr>
          <p:cNvPr id="21" name="矩形: 圓角 20">
            <a:extLst>
              <a:ext uri="{FF2B5EF4-FFF2-40B4-BE49-F238E27FC236}">
                <a16:creationId xmlns:a16="http://schemas.microsoft.com/office/drawing/2014/main" id="{953F2037-39DD-8B1B-F3EA-5DC4D54EDA6A}"/>
              </a:ext>
            </a:extLst>
          </p:cNvPr>
          <p:cNvSpPr/>
          <p:nvPr/>
        </p:nvSpPr>
        <p:spPr>
          <a:xfrm>
            <a:off x="252500" y="23487748"/>
            <a:ext cx="17012793" cy="19068138"/>
          </a:xfrm>
          <a:prstGeom prst="roundRect">
            <a:avLst/>
          </a:prstGeom>
          <a:solidFill>
            <a:srgbClr val="FFFFFF">
              <a:alpha val="60000"/>
            </a:srgbClr>
          </a:solid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30" name="文字方塊 29">
            <a:extLst>
              <a:ext uri="{FF2B5EF4-FFF2-40B4-BE49-F238E27FC236}">
                <a16:creationId xmlns:a16="http://schemas.microsoft.com/office/drawing/2014/main" id="{8C2E2BDA-3D2F-7362-2B39-E7D5C8675725}"/>
              </a:ext>
            </a:extLst>
          </p:cNvPr>
          <p:cNvSpPr txBox="1"/>
          <p:nvPr/>
        </p:nvSpPr>
        <p:spPr>
          <a:xfrm>
            <a:off x="21997519" y="34462763"/>
            <a:ext cx="329296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陸、結論</a:t>
            </a:r>
          </a:p>
        </p:txBody>
      </p:sp>
      <p:sp>
        <p:nvSpPr>
          <p:cNvPr id="32" name="矩形: 圓角 31">
            <a:extLst>
              <a:ext uri="{FF2B5EF4-FFF2-40B4-BE49-F238E27FC236}">
                <a16:creationId xmlns:a16="http://schemas.microsoft.com/office/drawing/2014/main" id="{EA64F18F-1A88-70DE-DB0B-1A5C9D3685B5}"/>
              </a:ext>
            </a:extLst>
          </p:cNvPr>
          <p:cNvSpPr/>
          <p:nvPr/>
        </p:nvSpPr>
        <p:spPr>
          <a:xfrm>
            <a:off x="17402632" y="5409683"/>
            <a:ext cx="12616972" cy="14629044"/>
          </a:xfrm>
          <a:prstGeom prst="roundRect">
            <a:avLst/>
          </a:prstGeom>
          <a:solidFill>
            <a:srgbClr val="FFFFFF">
              <a:alpha val="60000"/>
            </a:srgbClr>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815400" rtlCol="0" anchor="ctr"/>
          <a:lstStyle/>
          <a:p>
            <a:pPr>
              <a:spcBef>
                <a:spcPts val="594"/>
              </a:spcBef>
              <a:spcAft>
                <a:spcPts val="594"/>
              </a:spcAft>
            </a:pPr>
            <a:endParaRPr lang="zh-TW" altLang="zh-TW" sz="2774" dirty="0">
              <a:solidFill>
                <a:schemeClr val="tx1"/>
              </a:solidFill>
              <a:latin typeface="Arial" panose="020B0604020202020204" pitchFamily="34" charset="0"/>
              <a:ea typeface="標楷體" panose="03000509000000000000" pitchFamily="65" charset="-120"/>
              <a:cs typeface="Arial" panose="020B0604020202020204" pitchFamily="34" charset="0"/>
            </a:endParaRPr>
          </a:p>
        </p:txBody>
      </p:sp>
      <p:sp>
        <p:nvSpPr>
          <p:cNvPr id="14" name="文字方塊 13">
            <a:extLst>
              <a:ext uri="{FF2B5EF4-FFF2-40B4-BE49-F238E27FC236}">
                <a16:creationId xmlns:a16="http://schemas.microsoft.com/office/drawing/2014/main" id="{8AF82D5C-D3EE-0A24-C6AB-E886E6943AD3}"/>
              </a:ext>
            </a:extLst>
          </p:cNvPr>
          <p:cNvSpPr txBox="1"/>
          <p:nvPr/>
        </p:nvSpPr>
        <p:spPr>
          <a:xfrm>
            <a:off x="7181082" y="4334209"/>
            <a:ext cx="329296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壹、摘要</a:t>
            </a:r>
          </a:p>
        </p:txBody>
      </p:sp>
      <p:sp>
        <p:nvSpPr>
          <p:cNvPr id="16" name="文字方塊 15">
            <a:extLst>
              <a:ext uri="{FF2B5EF4-FFF2-40B4-BE49-F238E27FC236}">
                <a16:creationId xmlns:a16="http://schemas.microsoft.com/office/drawing/2014/main" id="{A84C8FD6-01EE-4169-9484-977AAFDB4A62}"/>
              </a:ext>
            </a:extLst>
          </p:cNvPr>
          <p:cNvSpPr txBox="1"/>
          <p:nvPr/>
        </p:nvSpPr>
        <p:spPr>
          <a:xfrm>
            <a:off x="6291420" y="13487313"/>
            <a:ext cx="5072290"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貳、研究動機</a:t>
            </a:r>
          </a:p>
        </p:txBody>
      </p:sp>
      <p:sp>
        <p:nvSpPr>
          <p:cNvPr id="23" name="文字方塊 22">
            <a:extLst>
              <a:ext uri="{FF2B5EF4-FFF2-40B4-BE49-F238E27FC236}">
                <a16:creationId xmlns:a16="http://schemas.microsoft.com/office/drawing/2014/main" id="{2054A0C0-EAA9-0619-C97B-5EC68EBE685D}"/>
              </a:ext>
            </a:extLst>
          </p:cNvPr>
          <p:cNvSpPr txBox="1"/>
          <p:nvPr/>
        </p:nvSpPr>
        <p:spPr>
          <a:xfrm>
            <a:off x="7318306" y="22414715"/>
            <a:ext cx="3018519"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參、理論</a:t>
            </a:r>
          </a:p>
        </p:txBody>
      </p:sp>
      <p:sp>
        <p:nvSpPr>
          <p:cNvPr id="24" name="文字方塊 23">
            <a:extLst>
              <a:ext uri="{FF2B5EF4-FFF2-40B4-BE49-F238E27FC236}">
                <a16:creationId xmlns:a16="http://schemas.microsoft.com/office/drawing/2014/main" id="{AE399E84-970D-658D-C2B6-181CE4B59ABA}"/>
              </a:ext>
            </a:extLst>
          </p:cNvPr>
          <p:cNvSpPr txBox="1"/>
          <p:nvPr/>
        </p:nvSpPr>
        <p:spPr>
          <a:xfrm>
            <a:off x="21358784" y="4300776"/>
            <a:ext cx="457043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肆、研究方法</a:t>
            </a:r>
          </a:p>
        </p:txBody>
      </p:sp>
      <p:sp>
        <p:nvSpPr>
          <p:cNvPr id="25" name="文字方塊 24">
            <a:extLst>
              <a:ext uri="{FF2B5EF4-FFF2-40B4-BE49-F238E27FC236}">
                <a16:creationId xmlns:a16="http://schemas.microsoft.com/office/drawing/2014/main" id="{26B29E52-ECBC-5804-D28A-05EF66BF0822}"/>
              </a:ext>
            </a:extLst>
          </p:cNvPr>
          <p:cNvSpPr txBox="1"/>
          <p:nvPr/>
        </p:nvSpPr>
        <p:spPr>
          <a:xfrm>
            <a:off x="22201163" y="20038727"/>
            <a:ext cx="457043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伍、結果</a:t>
            </a:r>
          </a:p>
        </p:txBody>
      </p:sp>
      <mc:AlternateContent xmlns:mc="http://schemas.openxmlformats.org/markup-compatibility/2006" xmlns:a14="http://schemas.microsoft.com/office/drawing/2010/main">
        <mc:Choice Requires="a14">
          <p:sp>
            <p:nvSpPr>
              <p:cNvPr id="27" name="Rectangle 2">
                <a:extLst>
                  <a:ext uri="{FF2B5EF4-FFF2-40B4-BE49-F238E27FC236}">
                    <a16:creationId xmlns:a16="http://schemas.microsoft.com/office/drawing/2014/main" id="{AB7D9519-BFD1-7866-D23A-A139E52C63AF}"/>
                  </a:ext>
                </a:extLst>
              </p:cNvPr>
              <p:cNvSpPr>
                <a:spLocks noChangeArrowheads="1"/>
              </p:cNvSpPr>
              <p:nvPr/>
            </p:nvSpPr>
            <p:spPr bwMode="auto">
              <a:xfrm>
                <a:off x="731790" y="24805999"/>
                <a:ext cx="16656641" cy="1107551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0600" tIns="45300" rIns="90600" bIns="453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拉普拉斯空間中的無因次水位降解</a:t>
                </a:r>
                <a:r>
                  <a:rPr lang="en-US" altLang="zh-TW" sz="3470" dirty="0">
                    <a:latin typeface="標楷體" panose="03000509000000000000" pitchFamily="65" charset="-120"/>
                    <a:ea typeface="標楷體" panose="03000509000000000000" pitchFamily="65" charset="-120"/>
                  </a:rPr>
                  <a:t>:</a:t>
                </a:r>
                <a:endParaRPr lang="zh-TW" altLang="zh-TW" sz="3470" dirty="0">
                  <a:latin typeface="標楷體" panose="03000509000000000000" pitchFamily="65" charset="-120"/>
                  <a:ea typeface="標楷體" panose="03000509000000000000" pitchFamily="65" charset="-120"/>
                </a:endParaRPr>
              </a:p>
              <a:p>
                <a:pPr/>
                <a14:m>
                  <m:oMathPara xmlns:m="http://schemas.openxmlformats.org/officeDocument/2006/math">
                    <m:oMathParaPr>
                      <m:jc m:val="centerGroup"/>
                    </m:oMathParaPr>
                    <m:oMath xmlns:m="http://schemas.openxmlformats.org/officeDocument/2006/math">
                      <m:sSub>
                        <m:sSubPr>
                          <m:ctrlPr>
                            <a:rPr lang="zh-TW" altLang="zh-TW" sz="3470" i="1">
                              <a:latin typeface="Cambria Math" panose="02040503050406030204" pitchFamily="18" charset="0"/>
                            </a:rPr>
                          </m:ctrlPr>
                        </m:sSubPr>
                        <m:e>
                          <m:acc>
                            <m:accPr>
                              <m:chr m:val="̅"/>
                              <m:ctrlPr>
                                <a:rPr lang="zh-TW" altLang="zh-TW" sz="3470" i="1">
                                  <a:latin typeface="Cambria Math" panose="02040503050406030204" pitchFamily="18" charset="0"/>
                                </a:rPr>
                              </m:ctrlPr>
                            </m:accPr>
                            <m:e>
                              <m:r>
                                <a:rPr lang="en-US" altLang="zh-TW" sz="3470" i="1">
                                  <a:latin typeface="Cambria Math" panose="02040503050406030204" pitchFamily="18" charset="0"/>
                                </a:rPr>
                                <m:t>𝑠</m:t>
                              </m:r>
                            </m:e>
                          </m:acc>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2</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𝐾</m:t>
                              </m:r>
                            </m:e>
                            <m:sub>
                              <m:r>
                                <a:rPr lang="en-US" altLang="zh-TW" sz="3470" i="1">
                                  <a:latin typeface="Cambria Math" panose="02040503050406030204" pitchFamily="18" charset="0"/>
                                </a:rPr>
                                <m:t>0</m:t>
                              </m:r>
                            </m:sub>
                          </m:sSub>
                          <m:d>
                            <m:dPr>
                              <m:ctrlPr>
                                <a:rPr lang="zh-TW" altLang="zh-TW" sz="3470" i="1">
                                  <a:latin typeface="Cambria Math" panose="02040503050406030204" pitchFamily="18" charset="0"/>
                                </a:rPr>
                              </m:ctrlPr>
                            </m:dPr>
                            <m:e>
                              <m:r>
                                <a:rPr lang="en-US" altLang="zh-TW" sz="3470" i="1">
                                  <a:latin typeface="Cambria Math" panose="02040503050406030204" pitchFamily="18" charset="0"/>
                                </a:rPr>
                                <m:t>𝑘</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𝑟</m:t>
                                  </m:r>
                                </m:e>
                                <m:sub>
                                  <m:r>
                                    <a:rPr lang="en-US" altLang="zh-TW" sz="3470" i="1">
                                      <a:latin typeface="Cambria Math" panose="02040503050406030204" pitchFamily="18" charset="0"/>
                                    </a:rPr>
                                    <m:t>𝐷</m:t>
                                  </m:r>
                                </m:sub>
                              </m:sSub>
                            </m:e>
                          </m:d>
                        </m:num>
                        <m:den>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𝐶</m:t>
                              </m:r>
                            </m:e>
                            <m:sub>
                              <m:r>
                                <a:rPr lang="en-US" altLang="zh-TW" sz="3470" i="1">
                                  <a:latin typeface="Cambria Math" panose="02040503050406030204" pitchFamily="18" charset="0"/>
                                </a:rPr>
                                <m:t>𝐷</m:t>
                              </m:r>
                            </m:sub>
                          </m:sSub>
                          <m:sSup>
                            <m:sSupPr>
                              <m:ctrlPr>
                                <a:rPr lang="zh-TW" altLang="zh-TW" sz="3470" i="1">
                                  <a:latin typeface="Cambria Math" panose="02040503050406030204" pitchFamily="18" charset="0"/>
                                </a:rPr>
                              </m:ctrlPr>
                            </m:sSupPr>
                            <m:e>
                              <m:r>
                                <a:rPr lang="en-US" altLang="zh-TW" sz="3470" i="1">
                                  <a:latin typeface="Cambria Math" panose="02040503050406030204" pitchFamily="18" charset="0"/>
                                </a:rPr>
                                <m:t>𝑝</m:t>
                              </m:r>
                            </m:e>
                            <m:sup>
                              <m:r>
                                <a:rPr lang="en-US" altLang="zh-TW" sz="3470" i="1">
                                  <a:latin typeface="Cambria Math" panose="02040503050406030204" pitchFamily="18" charset="0"/>
                                </a:rPr>
                                <m:t>2</m:t>
                              </m:r>
                            </m:sup>
                          </m:sSup>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𝐾</m:t>
                              </m:r>
                            </m:e>
                            <m:sub>
                              <m:r>
                                <a:rPr lang="en-US" altLang="zh-TW" sz="3470" i="1">
                                  <a:latin typeface="Cambria Math" panose="02040503050406030204" pitchFamily="18" charset="0"/>
                                </a:rPr>
                                <m:t>0</m:t>
                              </m:r>
                            </m:sub>
                          </m:sSub>
                          <m:d>
                            <m:dPr>
                              <m:ctrlPr>
                                <a:rPr lang="zh-TW" altLang="zh-TW" sz="3470" i="1">
                                  <a:latin typeface="Cambria Math" panose="02040503050406030204" pitchFamily="18" charset="0"/>
                                </a:rPr>
                              </m:ctrlPr>
                            </m:dPr>
                            <m:e>
                              <m:r>
                                <a:rPr lang="en-US" altLang="zh-TW" sz="3470" i="1">
                                  <a:latin typeface="Cambria Math" panose="02040503050406030204" pitchFamily="18" charset="0"/>
                                </a:rPr>
                                <m:t>𝑘</m:t>
                              </m:r>
                            </m:e>
                          </m:d>
                          <m:r>
                            <a:rPr lang="en-US" altLang="zh-TW" sz="3470" i="1">
                              <a:latin typeface="Cambria Math" panose="02040503050406030204" pitchFamily="18" charset="0"/>
                            </a:rPr>
                            <m:t>+</m:t>
                          </m:r>
                          <m:r>
                            <a:rPr lang="en-US" altLang="zh-TW" sz="3470" i="1">
                              <a:latin typeface="Cambria Math" panose="02040503050406030204" pitchFamily="18" charset="0"/>
                            </a:rPr>
                            <m:t>𝑘𝑝</m:t>
                          </m:r>
                          <m:r>
                            <a:rPr lang="en-US" altLang="zh-TW" sz="3470" i="1">
                              <a:latin typeface="Cambria Math" panose="02040503050406030204" pitchFamily="18" charset="0"/>
                            </a:rPr>
                            <m:t>[1+</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𝐶</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𝑝</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𝑆</m:t>
                              </m:r>
                            </m:e>
                            <m:sub>
                              <m:r>
                                <a:rPr lang="en-US" altLang="zh-TW" sz="3470" i="1">
                                  <a:latin typeface="Cambria Math" panose="02040503050406030204" pitchFamily="18" charset="0"/>
                                </a:rPr>
                                <m:t>𝑘</m:t>
                              </m:r>
                            </m:sub>
                          </m:sSub>
                          <m:r>
                            <a:rPr lang="en-US" altLang="zh-TW" sz="3470" i="1">
                              <a:latin typeface="Cambria Math" panose="02040503050406030204" pitchFamily="18" charset="0"/>
                            </a:rPr>
                            <m:t>]</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𝐾</m:t>
                              </m:r>
                            </m:e>
                            <m:sub>
                              <m:r>
                                <a:rPr lang="en-US" altLang="zh-TW" sz="3470" i="1">
                                  <a:latin typeface="Cambria Math" panose="02040503050406030204" pitchFamily="18" charset="0"/>
                                </a:rPr>
                                <m:t>1</m:t>
                              </m:r>
                            </m:sub>
                          </m:sSub>
                          <m:r>
                            <a:rPr lang="en-US" altLang="zh-TW" sz="3470" i="1">
                              <a:latin typeface="Cambria Math" panose="02040503050406030204" pitchFamily="18" charset="0"/>
                            </a:rPr>
                            <m:t>(</m:t>
                          </m:r>
                          <m:r>
                            <a:rPr lang="en-US" altLang="zh-TW" sz="3470" i="1">
                              <a:latin typeface="Cambria Math" panose="02040503050406030204" pitchFamily="18" charset="0"/>
                            </a:rPr>
                            <m:t>𝑘</m:t>
                          </m:r>
                          <m:r>
                            <a:rPr lang="en-US" altLang="zh-TW" sz="3470" i="1">
                              <a:latin typeface="Cambria Math" panose="02040503050406030204" pitchFamily="18" charset="0"/>
                            </a:rPr>
                            <m:t>)</m:t>
                          </m:r>
                        </m:den>
                      </m:f>
                    </m:oMath>
                  </m:oMathPara>
                </a14:m>
                <a:endParaRPr lang="zh-TW" altLang="zh-TW" sz="3470" dirty="0">
                  <a:latin typeface="標楷體" panose="03000509000000000000" pitchFamily="65" charset="-120"/>
                  <a:ea typeface="標楷體" panose="03000509000000000000" pitchFamily="65" charset="-120"/>
                </a:endParaRPr>
              </a:p>
              <a:p>
                <a:r>
                  <a:rPr lang="en-US" altLang="zh-TW" sz="3470" dirty="0">
                    <a:latin typeface="標楷體" panose="03000509000000000000" pitchFamily="65" charset="-120"/>
                    <a:ea typeface="標楷體" panose="03000509000000000000" pitchFamily="65" charset="-120"/>
                  </a:rPr>
                  <a:t> </a:t>
                </a:r>
                <a:endParaRPr lang="zh-TW" altLang="zh-TW" sz="3470" dirty="0">
                  <a:latin typeface="標楷體" panose="03000509000000000000" pitchFamily="65" charset="-120"/>
                  <a:ea typeface="標楷體" panose="03000509000000000000" pitchFamily="65" charset="-120"/>
                </a:endParaRPr>
              </a:p>
              <a:p>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𝑠</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無因次水位降</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4</m:t>
                        </m:r>
                        <m:r>
                          <a:rPr lang="en-US" altLang="zh-TW" sz="3470" i="1">
                            <a:latin typeface="Cambria Math" panose="02040503050406030204" pitchFamily="18" charset="0"/>
                          </a:rPr>
                          <m:t>𝜋</m:t>
                        </m:r>
                        <m:r>
                          <a:rPr lang="en-US" altLang="zh-TW" sz="3470" i="1">
                            <a:latin typeface="Cambria Math" panose="02040503050406030204" pitchFamily="18" charset="0"/>
                          </a:rPr>
                          <m:t>𝑇</m:t>
                        </m:r>
                      </m:num>
                      <m:den>
                        <m:r>
                          <a:rPr lang="en-US" altLang="zh-TW" sz="3470" i="1">
                            <a:latin typeface="Cambria Math" panose="02040503050406030204" pitchFamily="18" charset="0"/>
                          </a:rPr>
                          <m:t>𝑄</m:t>
                        </m:r>
                      </m:den>
                    </m:f>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𝐻</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4</m:t>
                        </m:r>
                        <m:r>
                          <a:rPr lang="en-US" altLang="zh-TW" sz="3470" i="1">
                            <a:latin typeface="Cambria Math" panose="02040503050406030204" pitchFamily="18" charset="0"/>
                          </a:rPr>
                          <m:t>𝜋</m:t>
                        </m:r>
                        <m:r>
                          <a:rPr lang="en-US" altLang="zh-TW" sz="3470" i="1">
                            <a:latin typeface="Cambria Math" panose="02040503050406030204" pitchFamily="18" charset="0"/>
                          </a:rPr>
                          <m:t>𝑇</m:t>
                        </m:r>
                      </m:num>
                      <m:den>
                        <m:r>
                          <a:rPr lang="en-US" altLang="zh-TW" sz="3470" i="1">
                            <a:latin typeface="Cambria Math" panose="02040503050406030204" pitchFamily="18" charset="0"/>
                          </a:rPr>
                          <m:t>𝑄</m:t>
                        </m:r>
                      </m:den>
                    </m:f>
                    <m:r>
                      <a:rPr lang="en-US" altLang="zh-TW" sz="3470" i="1">
                        <a:latin typeface="Cambria Math" panose="02040503050406030204" pitchFamily="18" charset="0"/>
                      </a:rPr>
                      <m:t>𝐻</m:t>
                    </m:r>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 </m:t>
                        </m:r>
                        <m:r>
                          <a:rPr lang="en-US" altLang="zh-TW" sz="3470" i="1">
                            <a:latin typeface="Cambria Math" panose="02040503050406030204" pitchFamily="18" charset="0"/>
                          </a:rPr>
                          <m:t>𝑟</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無因次距離</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𝑟</m:t>
                        </m:r>
                      </m:num>
                      <m:den>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Sub>
                      </m:den>
                    </m:f>
                  </m:oMath>
                </a14:m>
                <a:r>
                  <a:rPr lang="en-US" altLang="zh-TW" sz="3470" dirty="0">
                    <a:latin typeface="標楷體" panose="03000509000000000000" pitchFamily="65" charset="-120"/>
                    <a:ea typeface="標楷體" panose="03000509000000000000" pitchFamily="65" charset="-120"/>
                  </a:rPr>
                  <a:t>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𝑡</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無因次時間</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𝑇</m:t>
                        </m:r>
                      </m:num>
                      <m:den>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r>
                      <a:rPr lang="en-US" altLang="zh-TW" sz="3470" i="1">
                        <a:latin typeface="Cambria Math" panose="02040503050406030204" pitchFamily="18" charset="0"/>
                      </a:rPr>
                      <m:t>𝑡</m:t>
                    </m:r>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𝐶</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無因次井貯係數</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𝑐</m:t>
                            </m:r>
                          </m:sub>
                          <m:sup>
                            <m:r>
                              <a:rPr lang="en-US" altLang="zh-TW" sz="3470" i="1">
                                <a:latin typeface="Cambria Math" panose="02040503050406030204" pitchFamily="18" charset="0"/>
                              </a:rPr>
                              <m:t>2</m:t>
                            </m:r>
                          </m:sup>
                        </m:sSubSup>
                      </m:num>
                      <m:den>
                        <m:r>
                          <a:rPr lang="en-US" altLang="zh-TW" sz="3470" i="1">
                            <a:latin typeface="Cambria Math" panose="02040503050406030204" pitchFamily="18" charset="0"/>
                          </a:rPr>
                          <m:t>2</m:t>
                        </m:r>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r>
                      <a:rPr lang="en-US" altLang="zh-TW" sz="3470" i="1">
                        <a:latin typeface="Cambria Math" panose="02040503050406030204" pitchFamily="18" charset="0"/>
                      </a:rPr>
                      <m:t>  </m:t>
                    </m:r>
                  </m:oMath>
                </a14:m>
                <a:r>
                  <a:rPr lang="en-US" altLang="zh-TW" sz="3470" dirty="0">
                    <a:latin typeface="標楷體" panose="03000509000000000000" pitchFamily="65" charset="-120"/>
                    <a:ea typeface="標楷體" panose="03000509000000000000" pitchFamily="65" charset="-120"/>
                  </a:rPr>
                  <a:t>, </a:t>
                </a:r>
                <a:endParaRPr lang="zh-TW" altLang="zh-TW" sz="3470" dirty="0">
                  <a:latin typeface="標楷體" panose="03000509000000000000" pitchFamily="65" charset="-120"/>
                  <a:ea typeface="標楷體" panose="03000509000000000000" pitchFamily="65" charset="-120"/>
                </a:endParaRPr>
              </a:p>
              <a:p>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𝑞𝐷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無因次水流相位延滯</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𝑇</m:t>
                        </m:r>
                      </m:num>
                      <m:den>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𝑞</m:t>
                        </m:r>
                      </m:sub>
                    </m:sSub>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𝑠𝐷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無因次水位降相位延滯</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𝑇</m:t>
                        </m:r>
                      </m:num>
                      <m:den>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𝑠</m:t>
                        </m:r>
                      </m:sub>
                    </m:sSub>
                  </m:oMath>
                </a14:m>
                <a:r>
                  <a:rPr lang="en-US" altLang="zh-TW" sz="3470" dirty="0">
                    <a:latin typeface="標楷體" panose="03000509000000000000" pitchFamily="65" charset="-120"/>
                    <a:ea typeface="標楷體" panose="03000509000000000000" pitchFamily="65" charset="-120"/>
                  </a:rPr>
                  <a:t> ,</a:t>
                </a:r>
                <a14:m>
                  <m:oMath xmlns:m="http://schemas.openxmlformats.org/officeDocument/2006/math">
                    <m:r>
                      <a:rPr lang="en-US" altLang="zh-TW" sz="3470" i="1">
                        <a:latin typeface="Cambria Math" panose="02040503050406030204" pitchFamily="18" charset="0"/>
                      </a:rPr>
                      <m:t>𝑘</m:t>
                    </m:r>
                    <m:r>
                      <a:rPr lang="en-US" altLang="zh-TW" sz="3470" i="1">
                        <a:latin typeface="Cambria Math" panose="02040503050406030204" pitchFamily="18" charset="0"/>
                      </a:rPr>
                      <m:t>(</m:t>
                    </m:r>
                    <m:r>
                      <a:rPr lang="zh-TW" altLang="zh-TW" sz="3470" i="1">
                        <a:latin typeface="Cambria Math" panose="02040503050406030204" pitchFamily="18" charset="0"/>
                      </a:rPr>
                      <m:t>漏失參數</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sSup>
                          <m:sSupPr>
                            <m:ctrlPr>
                              <a:rPr lang="zh-TW" altLang="zh-TW" sz="3470" i="1">
                                <a:latin typeface="Cambria Math" panose="02040503050406030204" pitchFamily="18" charset="0"/>
                              </a:rPr>
                            </m:ctrlPr>
                          </m:sSupPr>
                          <m:e>
                            <m:r>
                              <a:rPr lang="en-US" altLang="zh-TW" sz="3470" i="1">
                                <a:latin typeface="Cambria Math" panose="02040503050406030204" pitchFamily="18" charset="0"/>
                              </a:rPr>
                              <m:t>𝐾</m:t>
                            </m:r>
                          </m:e>
                          <m:sup>
                            <m:r>
                              <a:rPr lang="en-US" altLang="zh-TW" sz="3470" i="1">
                                <a:latin typeface="Cambria Math" panose="02040503050406030204" pitchFamily="18" charset="0"/>
                              </a:rPr>
                              <m:t>′</m:t>
                            </m:r>
                          </m:sup>
                        </m:sSup>
                      </m:num>
                      <m:den>
                        <m:sSup>
                          <m:sSupPr>
                            <m:ctrlPr>
                              <a:rPr lang="zh-TW" altLang="zh-TW" sz="3470" i="1">
                                <a:latin typeface="Cambria Math" panose="02040503050406030204" pitchFamily="18" charset="0"/>
                              </a:rPr>
                            </m:ctrlPr>
                          </m:sSupPr>
                          <m:e>
                            <m:r>
                              <a:rPr lang="en-US" altLang="zh-TW" sz="3470" i="1">
                                <a:latin typeface="Cambria Math" panose="02040503050406030204" pitchFamily="18" charset="0"/>
                              </a:rPr>
                              <m:t>𝐵</m:t>
                            </m:r>
                          </m:e>
                          <m:sup>
                            <m:r>
                              <a:rPr lang="en-US" altLang="zh-TW" sz="3470" i="1">
                                <a:latin typeface="Cambria Math" panose="02040503050406030204" pitchFamily="18" charset="0"/>
                              </a:rPr>
                              <m:t>′</m:t>
                            </m:r>
                          </m:sup>
                        </m:sSup>
                        <m:r>
                          <a:rPr lang="en-US" altLang="zh-TW" sz="3470" i="1">
                            <a:latin typeface="Cambria Math" panose="02040503050406030204" pitchFamily="18" charset="0"/>
                          </a:rPr>
                          <m:t>𝑇</m:t>
                        </m:r>
                      </m:den>
                    </m:f>
                  </m:oMath>
                </a14:m>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   </a:t>
                </a:r>
              </a:p>
              <a:p>
                <a:endParaRPr lang="en-US" altLang="zh-TW" sz="3470" dirty="0">
                  <a:latin typeface="標楷體" panose="03000509000000000000" pitchFamily="65" charset="-120"/>
                  <a:ea typeface="標楷體" panose="03000509000000000000" pitchFamily="65" charset="-120"/>
                </a:endParaRPr>
              </a:p>
              <a:p>
                <a:r>
                  <a:rPr lang="en-US" altLang="zh-TW" sz="3470" i="1" dirty="0">
                    <a:latin typeface="Times New Roman" panose="02020603050405020304" pitchFamily="18" charset="0"/>
                    <a:ea typeface="標楷體" panose="03000509000000000000" pitchFamily="65" charset="-120"/>
                    <a:cs typeface="Times New Roman" panose="02020603050405020304" pitchFamily="18" charset="0"/>
                  </a:rPr>
                  <a:t>K</a:t>
                </a:r>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3470" dirty="0">
                    <a:latin typeface="標楷體" panose="03000509000000000000" pitchFamily="65" charset="-120"/>
                    <a:ea typeface="標楷體" panose="03000509000000000000" pitchFamily="65" charset="-120"/>
                  </a:rPr>
                  <a:t>是半透水層的水力傳導係數</a:t>
                </a:r>
              </a:p>
              <a:p>
                <a:r>
                  <a:rPr lang="en-US" altLang="zh-TW" sz="3470" i="1" dirty="0">
                    <a:latin typeface="Times New Roman" panose="02020603050405020304" pitchFamily="18" charset="0"/>
                    <a:ea typeface="標楷體" panose="03000509000000000000" pitchFamily="65" charset="-120"/>
                    <a:cs typeface="Times New Roman" panose="02020603050405020304" pitchFamily="18" charset="0"/>
                  </a:rPr>
                  <a:t>B</a:t>
                </a:r>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3470" dirty="0">
                    <a:latin typeface="標楷體" panose="03000509000000000000" pitchFamily="65" charset="-120"/>
                    <a:ea typeface="標楷體" panose="03000509000000000000" pitchFamily="65" charset="-120"/>
                  </a:rPr>
                  <a:t>是半透水層的厚度</a:t>
                </a:r>
              </a:p>
              <a:p>
                <a:r>
                  <a:rPr lang="en-US" altLang="zh-TW" sz="3470" i="1" dirty="0">
                    <a:latin typeface="Times New Roman" panose="02020603050405020304" pitchFamily="18" charset="0"/>
                    <a:ea typeface="標楷體" panose="03000509000000000000" pitchFamily="65" charset="-120"/>
                    <a:cs typeface="Times New Roman" panose="02020603050405020304" pitchFamily="18" charset="0"/>
                  </a:rPr>
                  <a:t>T</a:t>
                </a:r>
                <a:r>
                  <a:rPr lang="zh-TW" altLang="zh-TW" sz="3470" dirty="0">
                    <a:latin typeface="標楷體" panose="03000509000000000000" pitchFamily="65" charset="-120"/>
                    <a:ea typeface="標楷體" panose="03000509000000000000" pitchFamily="65" charset="-120"/>
                  </a:rPr>
                  <a:t>含水層的導水係數 </a:t>
                </a:r>
              </a:p>
              <a:p>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S</a:t>
                </a:r>
                <a:r>
                  <a:rPr lang="zh-TW" altLang="zh-TW" sz="3470" dirty="0">
                    <a:latin typeface="標楷體" panose="03000509000000000000" pitchFamily="65" charset="-120"/>
                    <a:ea typeface="標楷體" panose="03000509000000000000" pitchFamily="65" charset="-120"/>
                  </a:rPr>
                  <a:t>含水層的儲水係數</a:t>
                </a:r>
              </a:p>
              <a:p>
                <a:r>
                  <a:rPr lang="en-US" altLang="zh-TW" sz="3470" i="1" dirty="0" err="1">
                    <a:latin typeface="Times New Roman" panose="02020603050405020304" pitchFamily="18" charset="0"/>
                    <a:ea typeface="標楷體" panose="03000509000000000000" pitchFamily="65" charset="-120"/>
                    <a:cs typeface="Times New Roman" panose="02020603050405020304" pitchFamily="18" charset="0"/>
                  </a:rPr>
                  <a:t>S</a:t>
                </a:r>
                <a:r>
                  <a:rPr lang="en-US" altLang="zh-TW" sz="3470" i="1" baseline="-25000" dirty="0" err="1">
                    <a:latin typeface="Times New Roman" panose="02020603050405020304" pitchFamily="18" charset="0"/>
                    <a:ea typeface="標楷體" panose="03000509000000000000" pitchFamily="65" charset="-120"/>
                    <a:cs typeface="Times New Roman" panose="02020603050405020304" pitchFamily="18" charset="0"/>
                  </a:rPr>
                  <a:t>k</a:t>
                </a:r>
                <a:r>
                  <a:rPr lang="en-US" altLang="zh-TW" sz="3470" baseline="-25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3470" dirty="0">
                    <a:latin typeface="標楷體" panose="03000509000000000000" pitchFamily="65" charset="-120"/>
                    <a:ea typeface="標楷體" panose="03000509000000000000" pitchFamily="65" charset="-120"/>
                  </a:rPr>
                  <a:t>是井皮因子</a:t>
                </a:r>
              </a:p>
              <a:p>
                <a:endParaRPr lang="en-US" altLang="zh-TW" sz="3470" dirty="0">
                  <a:latin typeface="標楷體" panose="03000509000000000000" pitchFamily="65" charset="-120"/>
                  <a:ea typeface="標楷體" panose="03000509000000000000" pitchFamily="65" charset="-120"/>
                </a:endParaRPr>
              </a:p>
              <a:p>
                <a:endParaRPr lang="en-US" altLang="zh-TW" sz="3470" dirty="0">
                  <a:latin typeface="標楷體" panose="03000509000000000000" pitchFamily="65" charset="-120"/>
                  <a:ea typeface="標楷體" panose="03000509000000000000" pitchFamily="65" charset="-120"/>
                </a:endParaRPr>
              </a:p>
              <a:p>
                <a:endParaRPr lang="zh-TW" altLang="zh-TW" sz="3470" dirty="0">
                  <a:latin typeface="標楷體" panose="03000509000000000000" pitchFamily="65" charset="-120"/>
                  <a:ea typeface="標楷體" panose="03000509000000000000" pitchFamily="65" charset="-120"/>
                </a:endParaRPr>
              </a:p>
              <a:p>
                <a:pPr algn="just" defTabSz="905990"/>
                <a:endParaRPr lang="zh-TW" altLang="en-US" sz="2081" dirty="0">
                  <a:latin typeface="標楷體" panose="03000509000000000000" pitchFamily="65" charset="-120"/>
                  <a:ea typeface="標楷體" panose="03000509000000000000" pitchFamily="65" charset="-120"/>
                  <a:cs typeface="Arial" panose="020B0604020202020204" pitchFamily="34" charset="0"/>
                </a:endParaRPr>
              </a:p>
              <a:p>
                <a:pPr indent="301997" defTabSz="905990"/>
                <a:endParaRPr lang="zh-TW" altLang="en-US" sz="1783" dirty="0">
                  <a:latin typeface="標楷體" panose="03000509000000000000" pitchFamily="65" charset="-120"/>
                  <a:ea typeface="標楷體" panose="03000509000000000000" pitchFamily="65" charset="-120"/>
                </a:endParaRPr>
              </a:p>
            </p:txBody>
          </p:sp>
        </mc:Choice>
        <mc:Fallback xmlns="">
          <p:sp>
            <p:nvSpPr>
              <p:cNvPr id="27" name="Rectangle 2">
                <a:extLst>
                  <a:ext uri="{FF2B5EF4-FFF2-40B4-BE49-F238E27FC236}">
                    <a16:creationId xmlns:a16="http://schemas.microsoft.com/office/drawing/2014/main" id="{AB7D9519-BFD1-7866-D23A-A139E52C63AF}"/>
                  </a:ext>
                </a:extLst>
              </p:cNvPr>
              <p:cNvSpPr>
                <a:spLocks noRot="1" noChangeAspect="1" noMove="1" noResize="1" noEditPoints="1" noAdjustHandles="1" noChangeArrowheads="1" noChangeShapeType="1" noTextEdit="1"/>
              </p:cNvSpPr>
              <p:nvPr/>
            </p:nvSpPr>
            <p:spPr bwMode="auto">
              <a:xfrm>
                <a:off x="731790" y="24805999"/>
                <a:ext cx="16656641" cy="11075517"/>
              </a:xfrm>
              <a:prstGeom prst="rect">
                <a:avLst/>
              </a:prstGeom>
              <a:blipFill>
                <a:blip r:embed="rId3"/>
                <a:stretch>
                  <a:fillRect l="-1061" t="-3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
        <p:nvSpPr>
          <p:cNvPr id="28" name="Rectangle 2">
            <a:extLst>
              <a:ext uri="{FF2B5EF4-FFF2-40B4-BE49-F238E27FC236}">
                <a16:creationId xmlns:a16="http://schemas.microsoft.com/office/drawing/2014/main" id="{FF309269-2170-EF43-C00A-3FC85C1030B7}"/>
              </a:ext>
            </a:extLst>
          </p:cNvPr>
          <p:cNvSpPr>
            <a:spLocks noChangeArrowheads="1"/>
          </p:cNvSpPr>
          <p:nvPr/>
        </p:nvSpPr>
        <p:spPr bwMode="auto">
          <a:xfrm>
            <a:off x="17655129" y="5775176"/>
            <a:ext cx="11985603" cy="13715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00" tIns="45300" rIns="90600" bIns="453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05990"/>
            <a:r>
              <a:rPr lang="zh-TW" altLang="en-US"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基於拉普拉斯空間中的無因次水位降解與其參數及單位，寫出</a:t>
            </a:r>
            <a:r>
              <a:rPr lang="en-US" altLang="zh-TW" sz="3470" dirty="0">
                <a:latin typeface="標楷體" panose="03000509000000000000" pitchFamily="65" charset="-120"/>
                <a:ea typeface="標楷體" panose="03000509000000000000" pitchFamily="65" charset="-120"/>
              </a:rPr>
              <a:t> </a:t>
            </a:r>
            <a:r>
              <a:rPr lang="en-US" altLang="zh-TW" sz="3470" dirty="0" err="1">
                <a:latin typeface="標楷體" panose="03000509000000000000" pitchFamily="65" charset="-120"/>
                <a:ea typeface="標楷體" panose="03000509000000000000" pitchFamily="65" charset="-120"/>
              </a:rPr>
              <a:t>Stehfest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數值反演演算法的</a:t>
            </a:r>
            <a:r>
              <a:rPr lang="en-US" altLang="zh-TW" sz="3470" dirty="0">
                <a:latin typeface="標楷體" panose="03000509000000000000" pitchFamily="65" charset="-120"/>
                <a:ea typeface="標楷體" panose="03000509000000000000" pitchFamily="65" charset="-120"/>
              </a:rPr>
              <a:t> Python </a:t>
            </a:r>
            <a:r>
              <a:rPr lang="zh-TW" altLang="zh-TW" sz="3470" dirty="0">
                <a:latin typeface="標楷體" panose="03000509000000000000" pitchFamily="65" charset="-120"/>
                <a:ea typeface="標楷體" panose="03000509000000000000" pitchFamily="65" charset="-120"/>
              </a:rPr>
              <a:t>函數得到</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模型，接著以</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模型為基礎，加入隨機誤差指標</a:t>
            </a:r>
            <a:r>
              <a:rPr lang="en-US" altLang="zh-TW" sz="3470" dirty="0">
                <a:latin typeface="標楷體" panose="03000509000000000000" pitchFamily="65" charset="-120"/>
                <a:ea typeface="標楷體" panose="03000509000000000000" pitchFamily="65" charset="-120"/>
              </a:rPr>
              <a:t>(</a:t>
            </a:r>
            <a:r>
              <a:rPr lang="zh-TW" altLang="zh-TW" sz="3470" dirty="0">
                <a:latin typeface="標楷體" panose="03000509000000000000" pitchFamily="65" charset="-120"/>
                <a:ea typeface="標楷體" panose="03000509000000000000" pitchFamily="65" charset="-120"/>
              </a:rPr>
              <a:t>方誤差</a:t>
            </a:r>
            <a:r>
              <a:rPr lang="en-US" altLang="zh-TW" sz="3470" dirty="0">
                <a:latin typeface="標楷體" panose="03000509000000000000" pitchFamily="65" charset="-120"/>
                <a:ea typeface="標楷體" panose="03000509000000000000" pitchFamily="65" charset="-120"/>
              </a:rPr>
              <a:t> (MSE) </a:t>
            </a:r>
            <a:r>
              <a:rPr lang="zh-TW" altLang="zh-TW" sz="3470" dirty="0">
                <a:latin typeface="標楷體" panose="03000509000000000000" pitchFamily="65" charset="-120"/>
                <a:ea typeface="標楷體" panose="03000509000000000000" pitchFamily="65" charset="-120"/>
              </a:rPr>
              <a:t>或均方根誤差</a:t>
            </a:r>
            <a:r>
              <a:rPr lang="en-US" altLang="zh-TW" sz="3470" dirty="0">
                <a:latin typeface="標楷體" panose="03000509000000000000" pitchFamily="65" charset="-120"/>
                <a:ea typeface="標楷體" panose="03000509000000000000" pitchFamily="65" charset="-120"/>
              </a:rPr>
              <a:t> (RMSE))</a:t>
            </a:r>
            <a:r>
              <a:rPr lang="zh-TW" altLang="zh-TW" sz="3470" dirty="0">
                <a:latin typeface="標楷體" panose="03000509000000000000" pitchFamily="65" charset="-120"/>
                <a:ea typeface="標楷體" panose="03000509000000000000" pitchFamily="65" charset="-120"/>
              </a:rPr>
              <a:t>，模擬真實帶有誤差的抽水試驗觀測數據，</a:t>
            </a:r>
            <a:r>
              <a:rPr lang="zh-TW" altLang="en-US" sz="3470" dirty="0">
                <a:latin typeface="標楷體" panose="03000509000000000000" pitchFamily="65" charset="-120"/>
                <a:ea typeface="標楷體" panose="03000509000000000000" pitchFamily="65" charset="-120"/>
              </a:rPr>
              <a:t>再呼叫</a:t>
            </a:r>
            <a:r>
              <a:rPr lang="en-US" altLang="zh-TW" sz="3470" dirty="0">
                <a:latin typeface="標楷體" panose="03000509000000000000" pitchFamily="65" charset="-120"/>
                <a:ea typeface="標楷體" panose="03000509000000000000" pitchFamily="65" charset="-120"/>
              </a:rPr>
              <a:t>Python</a:t>
            </a:r>
            <a:r>
              <a:rPr lang="zh-TW" altLang="en-US" sz="3470" dirty="0">
                <a:latin typeface="標楷體" panose="03000509000000000000" pitchFamily="65" charset="-120"/>
                <a:ea typeface="標楷體" panose="03000509000000000000" pitchFamily="65" charset="-120"/>
              </a:rPr>
              <a:t>中的</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最佳化套件</a:t>
            </a:r>
            <a:r>
              <a:rPr lang="en-US" altLang="zh-TW" sz="3470" dirty="0">
                <a:latin typeface="標楷體" panose="03000509000000000000" pitchFamily="65" charset="-120"/>
                <a:ea typeface="標楷體" panose="03000509000000000000" pitchFamily="65" charset="-120"/>
              </a:rPr>
              <a:t>:</a:t>
            </a:r>
            <a:r>
              <a:rPr lang="en-US" altLang="zh-TW" sz="3470" dirty="0" err="1">
                <a:latin typeface="標楷體" panose="03000509000000000000" pitchFamily="65" charset="-120"/>
                <a:ea typeface="標楷體" panose="03000509000000000000" pitchFamily="65" charset="-120"/>
              </a:rPr>
              <a:t>scipy.optimize.curve_fit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自動尋找讓誤差最小的參數，</a:t>
            </a:r>
            <a:r>
              <a:rPr lang="zh-TW" altLang="en-US" sz="3470" dirty="0">
                <a:latin typeface="標楷體" panose="03000509000000000000" pitchFamily="65" charset="-120"/>
                <a:ea typeface="標楷體" panose="03000509000000000000" pitchFamily="65" charset="-120"/>
              </a:rPr>
              <a:t>並透過</a:t>
            </a:r>
            <a:r>
              <a:rPr lang="en-US" altLang="zh-TW" sz="3470" dirty="0">
                <a:latin typeface="標楷體" panose="03000509000000000000" pitchFamily="65" charset="-120"/>
                <a:ea typeface="標楷體" panose="03000509000000000000" pitchFamily="65" charset="-120"/>
              </a:rPr>
              <a:t>Levenberg-Marquardt </a:t>
            </a:r>
            <a:r>
              <a:rPr lang="zh-TW" altLang="zh-TW" sz="3470" dirty="0">
                <a:latin typeface="標楷體" panose="03000509000000000000" pitchFamily="65" charset="-120"/>
                <a:ea typeface="標楷體" panose="03000509000000000000" pitchFamily="65" charset="-120"/>
              </a:rPr>
              <a:t>演算法嘗試推估導水係數</a:t>
            </a:r>
            <a:r>
              <a:rPr lang="en-US" altLang="zh-TW" sz="3470" dirty="0">
                <a:latin typeface="標楷體" panose="03000509000000000000" pitchFamily="65" charset="-120"/>
                <a:ea typeface="標楷體" panose="03000509000000000000" pitchFamily="65" charset="-120"/>
              </a:rPr>
              <a:t>T</a:t>
            </a:r>
            <a:r>
              <a:rPr lang="zh-TW" altLang="zh-TW" sz="3470" dirty="0">
                <a:latin typeface="標楷體" panose="03000509000000000000" pitchFamily="65" charset="-120"/>
                <a:ea typeface="標楷體" panose="03000509000000000000" pitchFamily="65" charset="-120"/>
              </a:rPr>
              <a:t>、儲水係數</a:t>
            </a:r>
            <a:r>
              <a:rPr lang="en-US" altLang="zh-TW" sz="3470" dirty="0">
                <a:latin typeface="標楷體" panose="03000509000000000000" pitchFamily="65" charset="-120"/>
                <a:ea typeface="標楷體" panose="03000509000000000000" pitchFamily="65" charset="-120"/>
              </a:rPr>
              <a:t>S</a:t>
            </a:r>
            <a:r>
              <a:rPr lang="zh-TW" altLang="zh-TW" sz="3470" dirty="0">
                <a:latin typeface="標楷體" panose="03000509000000000000" pitchFamily="65" charset="-120"/>
                <a:ea typeface="標楷體" panose="03000509000000000000" pitchFamily="65" charset="-120"/>
              </a:rPr>
              <a:t>、通量遲滯</a:t>
            </a:r>
            <a:r>
              <a:rPr lang="en-US" altLang="zh-TW" sz="3470" dirty="0" err="1">
                <a:latin typeface="標楷體" panose="03000509000000000000" pitchFamily="65" charset="-120"/>
                <a:ea typeface="標楷體" panose="03000509000000000000" pitchFamily="65" charset="-120"/>
              </a:rPr>
              <a:t>tau_q</a:t>
            </a:r>
            <a:r>
              <a:rPr lang="zh-TW" altLang="zh-TW" sz="3470" dirty="0">
                <a:latin typeface="標楷體" panose="03000509000000000000" pitchFamily="65" charset="-120"/>
                <a:ea typeface="標楷體" panose="03000509000000000000" pitchFamily="65" charset="-120"/>
              </a:rPr>
              <a:t>、梯度遲滯</a:t>
            </a:r>
            <a:r>
              <a:rPr lang="en-US" altLang="zh-TW" sz="3470" dirty="0" err="1">
                <a:latin typeface="標楷體" panose="03000509000000000000" pitchFamily="65" charset="-120"/>
                <a:ea typeface="標楷體" panose="03000509000000000000" pitchFamily="65" charset="-120"/>
              </a:rPr>
              <a:t>tau_s</a:t>
            </a:r>
            <a:r>
              <a:rPr lang="zh-TW" altLang="zh-TW" sz="3470" dirty="0">
                <a:latin typeface="標楷體" panose="03000509000000000000" pitchFamily="65" charset="-120"/>
                <a:ea typeface="標楷體" panose="03000509000000000000" pitchFamily="65" charset="-120"/>
              </a:rPr>
              <a:t>等參數，用以比較帶入猜測參數算出的水位洩降與模擬的觀測數據之間的幾何距離。同時透過</a:t>
            </a:r>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評估擬合精確度與</a:t>
            </a:r>
            <a:r>
              <a:rPr lang="en-US" altLang="zh-TW" sz="3470" dirty="0">
                <a:latin typeface="標楷體" panose="03000509000000000000" pitchFamily="65" charset="-120"/>
                <a:ea typeface="標楷體" panose="03000509000000000000" pitchFamily="65" charset="-120"/>
              </a:rPr>
              <a:t>ME</a:t>
            </a:r>
            <a:r>
              <a:rPr lang="zh-TW" altLang="zh-TW" sz="3470" dirty="0">
                <a:latin typeface="標楷體" panose="03000509000000000000" pitchFamily="65" charset="-120"/>
                <a:ea typeface="標楷體" panose="03000509000000000000" pitchFamily="65" charset="-120"/>
              </a:rPr>
              <a:t>檢查模型是否存在系統性偏差。接著藉由</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模型寫一個迴圈隨機產出</a:t>
            </a:r>
            <a:r>
              <a:rPr lang="en-US" altLang="zh-TW" sz="3470" dirty="0">
                <a:latin typeface="標楷體" panose="03000509000000000000" pitchFamily="65" charset="-120"/>
                <a:ea typeface="標楷體" panose="03000509000000000000" pitchFamily="65" charset="-120"/>
              </a:rPr>
              <a:t>1000 </a:t>
            </a:r>
            <a:r>
              <a:rPr lang="zh-TW" altLang="zh-TW" sz="3470" dirty="0">
                <a:latin typeface="標楷體" panose="03000509000000000000" pitchFamily="65" charset="-120"/>
                <a:ea typeface="標楷體" panose="03000509000000000000" pitchFamily="65" charset="-120"/>
              </a:rPr>
              <a:t>組不同的水文參數組合</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導水係數、儲水係數、通量遲滯、梯度遲滯</a:t>
            </a:r>
            <a:r>
              <a:rPr lang="en-US" altLang="zh-TW" sz="3470" dirty="0">
                <a:latin typeface="標楷體" panose="03000509000000000000" pitchFamily="65" charset="-120"/>
                <a:ea typeface="標楷體" panose="03000509000000000000" pitchFamily="65" charset="-120"/>
              </a:rPr>
              <a:t>)</a:t>
            </a:r>
            <a:r>
              <a:rPr lang="zh-TW" altLang="zh-TW" sz="3470" dirty="0">
                <a:latin typeface="標楷體" panose="03000509000000000000" pitchFamily="65" charset="-120"/>
                <a:ea typeface="標楷體" panose="03000509000000000000" pitchFamily="65" charset="-120"/>
              </a:rPr>
              <a:t>，並計算出對應的</a:t>
            </a:r>
            <a:r>
              <a:rPr lang="en-US" altLang="zh-TW" sz="3470" dirty="0">
                <a:latin typeface="標楷體" panose="03000509000000000000" pitchFamily="65" charset="-120"/>
                <a:ea typeface="標楷體" panose="03000509000000000000" pitchFamily="65" charset="-120"/>
              </a:rPr>
              <a:t> 1000 </a:t>
            </a:r>
            <a:r>
              <a:rPr lang="zh-TW" altLang="zh-TW" sz="3470" dirty="0">
                <a:latin typeface="標楷體" panose="03000509000000000000" pitchFamily="65" charset="-120"/>
                <a:ea typeface="標楷體" panose="03000509000000000000" pitchFamily="65" charset="-120"/>
              </a:rPr>
              <a:t>條水位洩降曲線，建立專屬的機器學習資料集。</a:t>
            </a:r>
            <a:r>
              <a:rPr lang="zh-TW" altLang="en-US" sz="3470" dirty="0">
                <a:latin typeface="標楷體" panose="03000509000000000000" pitchFamily="65" charset="-120"/>
                <a:ea typeface="標楷體" panose="03000509000000000000" pitchFamily="65" charset="-120"/>
              </a:rPr>
              <a:t>使用 </a:t>
            </a:r>
            <a:r>
              <a:rPr lang="en-US" altLang="zh-TW" sz="3470" dirty="0">
                <a:latin typeface="標楷體" panose="03000509000000000000" pitchFamily="65" charset="-120"/>
                <a:ea typeface="標楷體" panose="03000509000000000000" pitchFamily="65" charset="-120"/>
              </a:rPr>
              <a:t>Python </a:t>
            </a:r>
            <a:r>
              <a:rPr lang="zh-TW" altLang="en-US" sz="3470" dirty="0">
                <a:latin typeface="標楷體" panose="03000509000000000000" pitchFamily="65" charset="-120"/>
                <a:ea typeface="標楷體" panose="03000509000000000000" pitchFamily="65" charset="-120"/>
              </a:rPr>
              <a:t>的機器學習套件</a:t>
            </a:r>
            <a:r>
              <a:rPr lang="en-US" altLang="zh-TW" sz="3470" dirty="0">
                <a:latin typeface="標楷體" panose="03000509000000000000" pitchFamily="65" charset="-120"/>
                <a:ea typeface="標楷體" panose="03000509000000000000" pitchFamily="65" charset="-120"/>
              </a:rPr>
              <a:t>: Random Forest </a:t>
            </a:r>
            <a:r>
              <a:rPr lang="zh-TW" altLang="zh-TW" sz="3470" dirty="0">
                <a:latin typeface="標楷體" panose="03000509000000000000" pitchFamily="65" charset="-120"/>
                <a:ea typeface="標楷體" panose="03000509000000000000" pitchFamily="65" charset="-120"/>
              </a:rPr>
              <a:t>，</a:t>
            </a:r>
            <a:r>
              <a:rPr lang="zh-TW" altLang="en-US" sz="3470" dirty="0">
                <a:latin typeface="標楷體" panose="03000509000000000000" pitchFamily="65" charset="-120"/>
                <a:ea typeface="標楷體" panose="03000509000000000000" pitchFamily="65" charset="-120"/>
              </a:rPr>
              <a:t>訓練一個模型：以水位洩降曲線的多個時間點數值為輸入特徵，直接預測出四個水文參數</a:t>
            </a:r>
            <a:r>
              <a:rPr lang="zh-TW" altLang="zh-TW" sz="3470" dirty="0">
                <a:latin typeface="標楷體" panose="03000509000000000000" pitchFamily="65" charset="-120"/>
                <a:ea typeface="標楷體" panose="03000509000000000000" pitchFamily="65" charset="-120"/>
              </a:rPr>
              <a:t>，將保留的測試集丟給訓練好的模型預測，並計算預測參數與真實參數的誤差。藉由已建好的</a:t>
            </a:r>
            <a:r>
              <a:rPr lang="en-US" altLang="zh-TW" sz="3470" dirty="0">
                <a:latin typeface="標楷體" panose="03000509000000000000" pitchFamily="65" charset="-120"/>
                <a:ea typeface="標楷體" panose="03000509000000000000" pitchFamily="65" charset="-120"/>
              </a:rPr>
              <a:t>1000</a:t>
            </a:r>
            <a:r>
              <a:rPr lang="zh-TW" altLang="zh-TW" sz="3470" dirty="0">
                <a:latin typeface="標楷體" panose="03000509000000000000" pitchFamily="65" charset="-120"/>
                <a:ea typeface="標楷體" panose="03000509000000000000" pitchFamily="65" charset="-120"/>
              </a:rPr>
              <a:t>組資料集，訓練一個簡單的條件式</a:t>
            </a:r>
            <a:r>
              <a:rPr lang="en-US" altLang="zh-TW" sz="3470" dirty="0">
                <a:latin typeface="標楷體" panose="03000509000000000000" pitchFamily="65" charset="-120"/>
                <a:ea typeface="標楷體" panose="03000509000000000000" pitchFamily="65" charset="-120"/>
              </a:rPr>
              <a:t> Flow Matching (Conditional Flow Matching)</a:t>
            </a:r>
            <a:r>
              <a:rPr lang="zh-TW" altLang="zh-TW" sz="3470" dirty="0">
                <a:latin typeface="標楷體" panose="03000509000000000000" pitchFamily="65" charset="-120"/>
                <a:ea typeface="標楷體" panose="03000509000000000000" pitchFamily="65" charset="-120"/>
              </a:rPr>
              <a:t>模型，並設定</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讓模型接收同一條帶有雜訊的水位洩降曲線作為條件。給模型輸入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個不同的隨機雜訊，接著利用</a:t>
            </a:r>
            <a:r>
              <a:rPr lang="en-US" altLang="zh-TW" sz="3470" dirty="0">
                <a:latin typeface="標楷體" panose="03000509000000000000" pitchFamily="65" charset="-120"/>
                <a:ea typeface="標楷體" panose="03000509000000000000" pitchFamily="65" charset="-120"/>
              </a:rPr>
              <a:t> ODE </a:t>
            </a:r>
            <a:r>
              <a:rPr lang="zh-TW" altLang="zh-TW" sz="3470" dirty="0">
                <a:latin typeface="標楷體" panose="03000509000000000000" pitchFamily="65" charset="-120"/>
                <a:ea typeface="標楷體" panose="03000509000000000000" pitchFamily="65" charset="-120"/>
              </a:rPr>
              <a:t>數值積分逐步推演生成 </a:t>
            </a:r>
            <a:r>
              <a:rPr lang="en-US" altLang="zh-TW" sz="3470" dirty="0">
                <a:latin typeface="標楷體" panose="03000509000000000000" pitchFamily="65" charset="-120"/>
                <a:ea typeface="標楷體" panose="03000509000000000000" pitchFamily="65" charset="-120"/>
              </a:rPr>
              <a:t>100 </a:t>
            </a:r>
            <a:r>
              <a:rPr lang="zh-TW" altLang="zh-TW" sz="3470" dirty="0">
                <a:latin typeface="標楷體" panose="03000509000000000000" pitchFamily="65" charset="-120"/>
                <a:ea typeface="標楷體" panose="03000509000000000000" pitchFamily="65" charset="-120"/>
              </a:rPr>
              <a:t>組可能的地下水參數組合。分析不同參數的集中程度與離散程度，以探討哪些參數較容易被唯一辨識，哪些參數則具有較高不確定性，低不確定性對結果之影響，從而提升模擬之現實代表性、準確性與可信度。</a:t>
            </a:r>
            <a:endParaRPr lang="zh-TW" altLang="en-US" sz="3470" dirty="0">
              <a:latin typeface="標楷體" panose="03000509000000000000" pitchFamily="65" charset="-120"/>
              <a:ea typeface="標楷體" panose="03000509000000000000" pitchFamily="65" charset="-120"/>
              <a:cs typeface="Arial" panose="020B0604020202020204" pitchFamily="34" charset="0"/>
            </a:endParaRPr>
          </a:p>
          <a:p>
            <a:pPr indent="301997" defTabSz="905990"/>
            <a:endParaRPr lang="zh-TW" altLang="en-US" sz="1783" dirty="0">
              <a:latin typeface="標楷體" panose="03000509000000000000" pitchFamily="65" charset="-120"/>
              <a:ea typeface="標楷體" panose="03000509000000000000" pitchFamily="65" charset="-120"/>
            </a:endParaRPr>
          </a:p>
        </p:txBody>
      </p:sp>
      <p:sp>
        <p:nvSpPr>
          <p:cNvPr id="34" name="矩形: 圓角 33">
            <a:extLst>
              <a:ext uri="{FF2B5EF4-FFF2-40B4-BE49-F238E27FC236}">
                <a16:creationId xmlns:a16="http://schemas.microsoft.com/office/drawing/2014/main" id="{84CE12A5-59E0-7F00-03A7-F9B248F59B5D}"/>
              </a:ext>
            </a:extLst>
          </p:cNvPr>
          <p:cNvSpPr/>
          <p:nvPr/>
        </p:nvSpPr>
        <p:spPr>
          <a:xfrm>
            <a:off x="17514679" y="35489170"/>
            <a:ext cx="12504925" cy="7066716"/>
          </a:xfrm>
          <a:prstGeom prst="roundRect">
            <a:avLst/>
          </a:prstGeom>
          <a:solidFill>
            <a:srgbClr val="FFFFFF">
              <a:alpha val="60000"/>
            </a:srgbClr>
          </a:solid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35" name="矩形: 圓角 34">
            <a:extLst>
              <a:ext uri="{FF2B5EF4-FFF2-40B4-BE49-F238E27FC236}">
                <a16:creationId xmlns:a16="http://schemas.microsoft.com/office/drawing/2014/main" id="{9136F3A6-812A-1A3F-C2A6-B113D7275F9E}"/>
              </a:ext>
            </a:extLst>
          </p:cNvPr>
          <p:cNvSpPr/>
          <p:nvPr/>
        </p:nvSpPr>
        <p:spPr>
          <a:xfrm>
            <a:off x="17402633" y="20969624"/>
            <a:ext cx="12620080" cy="12940669"/>
          </a:xfrm>
          <a:prstGeom prst="roundRect">
            <a:avLst/>
          </a:prstGeom>
          <a:solidFill>
            <a:srgbClr val="FFFFFF">
              <a:alpha val="60000"/>
            </a:srgbClr>
          </a:solid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37" name="文字方塊 36">
            <a:extLst>
              <a:ext uri="{FF2B5EF4-FFF2-40B4-BE49-F238E27FC236}">
                <a16:creationId xmlns:a16="http://schemas.microsoft.com/office/drawing/2014/main" id="{F79B8B56-5AA2-8E69-178D-9312AEB626DA}"/>
              </a:ext>
            </a:extLst>
          </p:cNvPr>
          <p:cNvSpPr txBox="1"/>
          <p:nvPr/>
        </p:nvSpPr>
        <p:spPr>
          <a:xfrm>
            <a:off x="12169434" y="554449"/>
            <a:ext cx="5936343" cy="3416320"/>
          </a:xfrm>
          <a:prstGeom prst="rect">
            <a:avLst/>
          </a:prstGeom>
          <a:noFill/>
        </p:spPr>
        <p:txBody>
          <a:bodyPr wrap="square" rtlCol="0">
            <a:spAutoFit/>
          </a:bodyPr>
          <a:lstStyle/>
          <a:p>
            <a:r>
              <a:rPr lang="zh-TW" altLang="en-US" sz="7200" b="1" dirty="0">
                <a:latin typeface="標楷體" panose="03000509000000000000" pitchFamily="65" charset="-120"/>
                <a:ea typeface="標楷體" panose="03000509000000000000" pitchFamily="65" charset="-120"/>
              </a:rPr>
              <a:t>研討會名稱</a:t>
            </a:r>
            <a:endParaRPr lang="en-US" altLang="zh-TW" sz="7200" b="1" dirty="0">
              <a:latin typeface="標楷體" panose="03000509000000000000" pitchFamily="65" charset="-120"/>
              <a:ea typeface="標楷體" panose="03000509000000000000" pitchFamily="65" charset="-120"/>
            </a:endParaRPr>
          </a:p>
          <a:p>
            <a:r>
              <a:rPr lang="en-US" altLang="zh-TW" sz="7200" b="1" dirty="0">
                <a:latin typeface="Times New Roman" panose="02020603050405020304" pitchFamily="18" charset="0"/>
                <a:cs typeface="Times New Roman" panose="02020603050405020304" pitchFamily="18" charset="0"/>
              </a:rPr>
              <a:t>Seminar name</a:t>
            </a:r>
          </a:p>
          <a:p>
            <a:endParaRPr lang="zh-TW" altLang="en-US" sz="7200" dirty="0"/>
          </a:p>
        </p:txBody>
      </p:sp>
      <p:sp>
        <p:nvSpPr>
          <p:cNvPr id="38" name="文字方塊 37">
            <a:extLst>
              <a:ext uri="{FF2B5EF4-FFF2-40B4-BE49-F238E27FC236}">
                <a16:creationId xmlns:a16="http://schemas.microsoft.com/office/drawing/2014/main" id="{379CE355-1A6D-6EFB-F270-215414188379}"/>
              </a:ext>
            </a:extLst>
          </p:cNvPr>
          <p:cNvSpPr txBox="1"/>
          <p:nvPr/>
        </p:nvSpPr>
        <p:spPr>
          <a:xfrm>
            <a:off x="16880114" y="3483429"/>
            <a:ext cx="11379200"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指導老師</a:t>
            </a:r>
            <a:r>
              <a:rPr lang="en-US" altLang="zh-TW" sz="3470" dirty="0">
                <a:latin typeface="標楷體" panose="03000509000000000000" pitchFamily="65" charset="-120"/>
                <a:ea typeface="標楷體" panose="03000509000000000000" pitchFamily="65" charset="-120"/>
              </a:rPr>
              <a:t>:  </a:t>
            </a:r>
            <a:r>
              <a:rPr lang="zh-TW" altLang="en-US" sz="3470" dirty="0">
                <a:latin typeface="標楷體" panose="03000509000000000000" pitchFamily="65" charset="-120"/>
                <a:ea typeface="標楷體" panose="03000509000000000000" pitchFamily="65" charset="-120"/>
              </a:rPr>
              <a:t>組員</a:t>
            </a:r>
            <a:r>
              <a:rPr lang="en-US" altLang="zh-TW" sz="3470" dirty="0">
                <a:latin typeface="標楷體" panose="03000509000000000000" pitchFamily="65" charset="-120"/>
                <a:ea typeface="標楷體" panose="03000509000000000000" pitchFamily="65" charset="-120"/>
              </a:rPr>
              <a:t>:</a:t>
            </a:r>
            <a:endParaRPr lang="zh-TW" altLang="en-US" sz="347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210413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流程圖: 結束點 112">
            <a:extLst>
              <a:ext uri="{FF2B5EF4-FFF2-40B4-BE49-F238E27FC236}">
                <a16:creationId xmlns:a16="http://schemas.microsoft.com/office/drawing/2014/main" id="{7E7B2264-867E-800C-07C7-D42B735743EA}"/>
              </a:ext>
            </a:extLst>
          </p:cNvPr>
          <p:cNvSpPr/>
          <p:nvPr/>
        </p:nvSpPr>
        <p:spPr>
          <a:xfrm>
            <a:off x="19693633" y="37101812"/>
            <a:ext cx="3332634" cy="1852051"/>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112" name="流程圖: 程序 111">
            <a:extLst>
              <a:ext uri="{FF2B5EF4-FFF2-40B4-BE49-F238E27FC236}">
                <a16:creationId xmlns:a16="http://schemas.microsoft.com/office/drawing/2014/main" id="{72510C46-8B13-D56C-DE4E-964B0BA7AF68}"/>
              </a:ext>
            </a:extLst>
          </p:cNvPr>
          <p:cNvSpPr/>
          <p:nvPr/>
        </p:nvSpPr>
        <p:spPr>
          <a:xfrm>
            <a:off x="16606351" y="26368277"/>
            <a:ext cx="5443090"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1" name="流程圖: 資料 110">
            <a:extLst>
              <a:ext uri="{FF2B5EF4-FFF2-40B4-BE49-F238E27FC236}">
                <a16:creationId xmlns:a16="http://schemas.microsoft.com/office/drawing/2014/main" id="{972F65D4-C462-7C07-81BA-8EA0A9D452D4}"/>
              </a:ext>
            </a:extLst>
          </p:cNvPr>
          <p:cNvSpPr/>
          <p:nvPr/>
        </p:nvSpPr>
        <p:spPr>
          <a:xfrm>
            <a:off x="16305497" y="21750746"/>
            <a:ext cx="6426450" cy="3092181"/>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10" name="流程圖: 資料 109">
            <a:extLst>
              <a:ext uri="{FF2B5EF4-FFF2-40B4-BE49-F238E27FC236}">
                <a16:creationId xmlns:a16="http://schemas.microsoft.com/office/drawing/2014/main" id="{7882C06E-EC37-D5B0-DE53-32914D02827C}"/>
              </a:ext>
            </a:extLst>
          </p:cNvPr>
          <p:cNvSpPr/>
          <p:nvPr/>
        </p:nvSpPr>
        <p:spPr>
          <a:xfrm>
            <a:off x="16627370" y="16942926"/>
            <a:ext cx="6426450" cy="3092181"/>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9" name="流程圖: 程序 108">
            <a:extLst>
              <a:ext uri="{FF2B5EF4-FFF2-40B4-BE49-F238E27FC236}">
                <a16:creationId xmlns:a16="http://schemas.microsoft.com/office/drawing/2014/main" id="{BC291877-A406-0E75-5812-5244E5FE7A40}"/>
              </a:ext>
            </a:extLst>
          </p:cNvPr>
          <p:cNvSpPr/>
          <p:nvPr/>
        </p:nvSpPr>
        <p:spPr>
          <a:xfrm>
            <a:off x="17517670" y="12722458"/>
            <a:ext cx="5443090"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8" name="流程圖: 決策 107">
            <a:extLst>
              <a:ext uri="{FF2B5EF4-FFF2-40B4-BE49-F238E27FC236}">
                <a16:creationId xmlns:a16="http://schemas.microsoft.com/office/drawing/2014/main" id="{673A853B-A181-0AFF-EEAB-4CD257A95BB8}"/>
              </a:ext>
            </a:extLst>
          </p:cNvPr>
          <p:cNvSpPr/>
          <p:nvPr/>
        </p:nvSpPr>
        <p:spPr>
          <a:xfrm>
            <a:off x="17031065" y="8263366"/>
            <a:ext cx="5443090" cy="2611885"/>
          </a:xfrm>
          <a:prstGeom prst="flowChartDecision">
            <a:avLst/>
          </a:prstGeom>
          <a:ln>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107" name="流程圖: 資料 106">
            <a:extLst>
              <a:ext uri="{FF2B5EF4-FFF2-40B4-BE49-F238E27FC236}">
                <a16:creationId xmlns:a16="http://schemas.microsoft.com/office/drawing/2014/main" id="{E272C82C-D961-6426-A089-BA02580890FF}"/>
              </a:ext>
            </a:extLst>
          </p:cNvPr>
          <p:cNvSpPr/>
          <p:nvPr/>
        </p:nvSpPr>
        <p:spPr>
          <a:xfrm>
            <a:off x="17307545" y="4405977"/>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6" name="流程圖: 程序 105">
            <a:extLst>
              <a:ext uri="{FF2B5EF4-FFF2-40B4-BE49-F238E27FC236}">
                <a16:creationId xmlns:a16="http://schemas.microsoft.com/office/drawing/2014/main" id="{E06CA24D-0D95-BCFF-6B3D-6B09F3094AB6}"/>
              </a:ext>
            </a:extLst>
          </p:cNvPr>
          <p:cNvSpPr/>
          <p:nvPr/>
        </p:nvSpPr>
        <p:spPr>
          <a:xfrm>
            <a:off x="17517670" y="528140"/>
            <a:ext cx="521427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5" name="流程圖: 資料 104">
            <a:extLst>
              <a:ext uri="{FF2B5EF4-FFF2-40B4-BE49-F238E27FC236}">
                <a16:creationId xmlns:a16="http://schemas.microsoft.com/office/drawing/2014/main" id="{31D08F58-50C5-ACFC-9E93-E1B07872DAA0}"/>
              </a:ext>
            </a:extLst>
          </p:cNvPr>
          <p:cNvSpPr/>
          <p:nvPr/>
        </p:nvSpPr>
        <p:spPr>
          <a:xfrm>
            <a:off x="359345" y="39767043"/>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4" name="流程圖: 資料 103">
            <a:extLst>
              <a:ext uri="{FF2B5EF4-FFF2-40B4-BE49-F238E27FC236}">
                <a16:creationId xmlns:a16="http://schemas.microsoft.com/office/drawing/2014/main" id="{23FCAC35-F5F9-5F86-A82F-A5377B42B5C3}"/>
              </a:ext>
            </a:extLst>
          </p:cNvPr>
          <p:cNvSpPr/>
          <p:nvPr/>
        </p:nvSpPr>
        <p:spPr>
          <a:xfrm>
            <a:off x="45719" y="30549051"/>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3" name="流程圖: 資料 102">
            <a:extLst>
              <a:ext uri="{FF2B5EF4-FFF2-40B4-BE49-F238E27FC236}">
                <a16:creationId xmlns:a16="http://schemas.microsoft.com/office/drawing/2014/main" id="{99E5C951-A206-895A-AC36-B24B260D529D}"/>
              </a:ext>
            </a:extLst>
          </p:cNvPr>
          <p:cNvSpPr/>
          <p:nvPr/>
        </p:nvSpPr>
        <p:spPr>
          <a:xfrm>
            <a:off x="97429" y="28196360"/>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2" name="流程圖: 資料 101">
            <a:extLst>
              <a:ext uri="{FF2B5EF4-FFF2-40B4-BE49-F238E27FC236}">
                <a16:creationId xmlns:a16="http://schemas.microsoft.com/office/drawing/2014/main" id="{1C9647B2-9FA4-38D2-BE42-C7051160F4D1}"/>
              </a:ext>
            </a:extLst>
          </p:cNvPr>
          <p:cNvSpPr/>
          <p:nvPr/>
        </p:nvSpPr>
        <p:spPr>
          <a:xfrm>
            <a:off x="125197" y="11339394"/>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79" name="流程圖: 程序 78">
            <a:extLst>
              <a:ext uri="{FF2B5EF4-FFF2-40B4-BE49-F238E27FC236}">
                <a16:creationId xmlns:a16="http://schemas.microsoft.com/office/drawing/2014/main" id="{69813C28-B34A-60EC-929B-A28D89CB80F9}"/>
              </a:ext>
            </a:extLst>
          </p:cNvPr>
          <p:cNvSpPr/>
          <p:nvPr/>
        </p:nvSpPr>
        <p:spPr>
          <a:xfrm>
            <a:off x="773123" y="34196493"/>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78" name="流程圖: 程序 77">
            <a:extLst>
              <a:ext uri="{FF2B5EF4-FFF2-40B4-BE49-F238E27FC236}">
                <a16:creationId xmlns:a16="http://schemas.microsoft.com/office/drawing/2014/main" id="{C70B7846-CBE5-FAD2-3A30-6B729112D03F}"/>
              </a:ext>
            </a:extLst>
          </p:cNvPr>
          <p:cNvSpPr/>
          <p:nvPr/>
        </p:nvSpPr>
        <p:spPr>
          <a:xfrm>
            <a:off x="722575" y="25760337"/>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62" name="流程圖: 程序 61">
            <a:extLst>
              <a:ext uri="{FF2B5EF4-FFF2-40B4-BE49-F238E27FC236}">
                <a16:creationId xmlns:a16="http://schemas.microsoft.com/office/drawing/2014/main" id="{6CBCE02B-EB45-31D0-011B-398F2B81BBBE}"/>
              </a:ext>
            </a:extLst>
          </p:cNvPr>
          <p:cNvSpPr/>
          <p:nvPr/>
        </p:nvSpPr>
        <p:spPr>
          <a:xfrm>
            <a:off x="809853" y="18550966"/>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3" name="流程圖: 程序 22">
            <a:extLst>
              <a:ext uri="{FF2B5EF4-FFF2-40B4-BE49-F238E27FC236}">
                <a16:creationId xmlns:a16="http://schemas.microsoft.com/office/drawing/2014/main" id="{B4AA7147-561B-B66C-4356-15C1E91C0CAA}"/>
              </a:ext>
            </a:extLst>
          </p:cNvPr>
          <p:cNvSpPr/>
          <p:nvPr/>
        </p:nvSpPr>
        <p:spPr>
          <a:xfrm>
            <a:off x="655093" y="14742978"/>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 name="流程圖: 預設程序 1">
            <a:extLst>
              <a:ext uri="{FF2B5EF4-FFF2-40B4-BE49-F238E27FC236}">
                <a16:creationId xmlns:a16="http://schemas.microsoft.com/office/drawing/2014/main" id="{EEAED699-5A99-FE27-B235-4F570C002FC6}"/>
              </a:ext>
            </a:extLst>
          </p:cNvPr>
          <p:cNvSpPr/>
          <p:nvPr/>
        </p:nvSpPr>
        <p:spPr>
          <a:xfrm>
            <a:off x="655092" y="37772019"/>
            <a:ext cx="4630213" cy="1995025"/>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59" name="流程圖: 決策 58">
            <a:extLst>
              <a:ext uri="{FF2B5EF4-FFF2-40B4-BE49-F238E27FC236}">
                <a16:creationId xmlns:a16="http://schemas.microsoft.com/office/drawing/2014/main" id="{44D6F5A3-ECF1-00B5-10C2-60EB856E87E1}"/>
              </a:ext>
            </a:extLst>
          </p:cNvPr>
          <p:cNvSpPr/>
          <p:nvPr/>
        </p:nvSpPr>
        <p:spPr>
          <a:xfrm>
            <a:off x="15402417" y="33270070"/>
            <a:ext cx="6332139" cy="2870929"/>
          </a:xfrm>
          <a:prstGeom prst="flowChartDecision">
            <a:avLst/>
          </a:prstGeom>
          <a:ln>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24" name="流程圖: 決策 23">
            <a:extLst>
              <a:ext uri="{FF2B5EF4-FFF2-40B4-BE49-F238E27FC236}">
                <a16:creationId xmlns:a16="http://schemas.microsoft.com/office/drawing/2014/main" id="{4E832D87-F2E1-2201-159B-6E4898CDDF39}"/>
              </a:ext>
            </a:extLst>
          </p:cNvPr>
          <p:cNvSpPr/>
          <p:nvPr/>
        </p:nvSpPr>
        <p:spPr>
          <a:xfrm>
            <a:off x="125197" y="21873147"/>
            <a:ext cx="5443090" cy="2611885"/>
          </a:xfrm>
          <a:prstGeom prst="flowChartDecision">
            <a:avLst/>
          </a:prstGeom>
          <a:ln>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5" name="流程圖: 結束點 4">
            <a:extLst>
              <a:ext uri="{FF2B5EF4-FFF2-40B4-BE49-F238E27FC236}">
                <a16:creationId xmlns:a16="http://schemas.microsoft.com/office/drawing/2014/main" id="{A0538336-B9E3-510E-BB25-6BB1E510FF16}"/>
              </a:ext>
            </a:extLst>
          </p:cNvPr>
          <p:cNvSpPr/>
          <p:nvPr/>
        </p:nvSpPr>
        <p:spPr>
          <a:xfrm>
            <a:off x="1319592" y="404085"/>
            <a:ext cx="4377031" cy="1689842"/>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CCD30E03-EE4B-0EF9-BAE1-F3F7DF9AA175}"/>
              </a:ext>
            </a:extLst>
          </p:cNvPr>
          <p:cNvSpPr txBox="1"/>
          <p:nvPr/>
        </p:nvSpPr>
        <p:spPr>
          <a:xfrm>
            <a:off x="1401143" y="935843"/>
            <a:ext cx="4559691"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設定模型與分析目標</a:t>
            </a:r>
          </a:p>
        </p:txBody>
      </p:sp>
      <p:sp>
        <p:nvSpPr>
          <p:cNvPr id="8" name="流程圖: 準備作業 7">
            <a:extLst>
              <a:ext uri="{FF2B5EF4-FFF2-40B4-BE49-F238E27FC236}">
                <a16:creationId xmlns:a16="http://schemas.microsoft.com/office/drawing/2014/main" id="{BAD409B8-CD7D-5C84-350E-CE815D660869}"/>
              </a:ext>
            </a:extLst>
          </p:cNvPr>
          <p:cNvSpPr/>
          <p:nvPr/>
        </p:nvSpPr>
        <p:spPr>
          <a:xfrm>
            <a:off x="1008595" y="3587182"/>
            <a:ext cx="4559692" cy="1963198"/>
          </a:xfrm>
          <a:prstGeom prst="flowChartPreparation">
            <a:avLst/>
          </a:prstGeom>
          <a:ln>
            <a:solidFill>
              <a:srgbClr val="CC0099"/>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186174E7-9200-4E60-B577-12DAD5C26503}"/>
              </a:ext>
            </a:extLst>
          </p:cNvPr>
          <p:cNvSpPr txBox="1"/>
          <p:nvPr/>
        </p:nvSpPr>
        <p:spPr>
          <a:xfrm>
            <a:off x="1903192" y="3978013"/>
            <a:ext cx="3146703"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蒐集需要公式、參數及單位</a:t>
            </a:r>
          </a:p>
        </p:txBody>
      </p:sp>
      <p:sp>
        <p:nvSpPr>
          <p:cNvPr id="10" name="流程圖: 程序 9">
            <a:extLst>
              <a:ext uri="{FF2B5EF4-FFF2-40B4-BE49-F238E27FC236}">
                <a16:creationId xmlns:a16="http://schemas.microsoft.com/office/drawing/2014/main" id="{73DF0381-4E83-FA3A-FC43-D101951490B5}"/>
              </a:ext>
            </a:extLst>
          </p:cNvPr>
          <p:cNvSpPr/>
          <p:nvPr/>
        </p:nvSpPr>
        <p:spPr>
          <a:xfrm>
            <a:off x="1074299" y="6694004"/>
            <a:ext cx="446761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3CDD6360-9375-1C3A-0124-89EC7660F92A}"/>
              </a:ext>
            </a:extLst>
          </p:cNvPr>
          <p:cNvSpPr txBox="1"/>
          <p:nvPr/>
        </p:nvSpPr>
        <p:spPr>
          <a:xfrm>
            <a:off x="1479352" y="7206082"/>
            <a:ext cx="3592179"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寫出</a:t>
            </a:r>
            <a:r>
              <a:rPr lang="en-US" altLang="zh-TW" sz="3470" dirty="0" err="1">
                <a:latin typeface="標楷體" panose="03000509000000000000" pitchFamily="65" charset="-120"/>
                <a:ea typeface="標楷體" panose="03000509000000000000" pitchFamily="65" charset="-120"/>
              </a:rPr>
              <a:t>Stehfest</a:t>
            </a:r>
            <a:r>
              <a:rPr lang="zh-TW" altLang="zh-TW" sz="3470" dirty="0">
                <a:latin typeface="標楷體" panose="03000509000000000000" pitchFamily="65" charset="-120"/>
                <a:ea typeface="標楷體" panose="03000509000000000000" pitchFamily="65" charset="-120"/>
              </a:rPr>
              <a:t>數值反演演算法的</a:t>
            </a:r>
            <a:r>
              <a:rPr lang="en-US" altLang="zh-TW" sz="3470" dirty="0">
                <a:latin typeface="標楷體" panose="03000509000000000000" pitchFamily="65" charset="-120"/>
                <a:ea typeface="標楷體" panose="03000509000000000000" pitchFamily="65" charset="-120"/>
              </a:rPr>
              <a:t>Python</a:t>
            </a:r>
            <a:r>
              <a:rPr lang="zh-TW" altLang="zh-TW" sz="3470" dirty="0">
                <a:latin typeface="標楷體" panose="03000509000000000000" pitchFamily="65" charset="-120"/>
                <a:ea typeface="標楷體" panose="03000509000000000000" pitchFamily="65" charset="-120"/>
              </a:rPr>
              <a:t>函</a:t>
            </a:r>
            <a:r>
              <a:rPr lang="zh-TW" altLang="en-US" sz="3470" dirty="0">
                <a:latin typeface="標楷體" panose="03000509000000000000" pitchFamily="65" charset="-120"/>
                <a:ea typeface="標楷體" panose="03000509000000000000" pitchFamily="65" charset="-120"/>
              </a:rPr>
              <a:t>數</a:t>
            </a:r>
            <a:endParaRPr lang="zh-TW" altLang="en-US" sz="3470" dirty="0"/>
          </a:p>
        </p:txBody>
      </p:sp>
      <p:sp>
        <p:nvSpPr>
          <p:cNvPr id="15" name="流程圖: 資料 14">
            <a:extLst>
              <a:ext uri="{FF2B5EF4-FFF2-40B4-BE49-F238E27FC236}">
                <a16:creationId xmlns:a16="http://schemas.microsoft.com/office/drawing/2014/main" id="{3C6D0FFF-5BBC-1D2C-DD26-1C8F8676FEDD}"/>
              </a:ext>
            </a:extLst>
          </p:cNvPr>
          <p:cNvSpPr/>
          <p:nvPr/>
        </p:nvSpPr>
        <p:spPr>
          <a:xfrm>
            <a:off x="655092" y="8997720"/>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ED96C923-9BE1-5F19-A5B6-523F25633386}"/>
              </a:ext>
            </a:extLst>
          </p:cNvPr>
          <p:cNvSpPr txBox="1"/>
          <p:nvPr/>
        </p:nvSpPr>
        <p:spPr>
          <a:xfrm>
            <a:off x="1248193" y="9766907"/>
            <a:ext cx="3823338" cy="626325"/>
          </a:xfrm>
          <a:prstGeom prst="rect">
            <a:avLst/>
          </a:prstGeom>
          <a:noFill/>
        </p:spPr>
        <p:txBody>
          <a:bodyPr wrap="square" rtlCol="0">
            <a:spAutoFit/>
          </a:bodyPr>
          <a:lstStyle/>
          <a:p>
            <a:r>
              <a:rPr lang="zh-TW" altLang="zh-TW" sz="3470" dirty="0">
                <a:latin typeface="標楷體" panose="03000509000000000000" pitchFamily="65" charset="-120"/>
                <a:ea typeface="標楷體" panose="03000509000000000000" pitchFamily="65" charset="-120"/>
              </a:rPr>
              <a:t>加入隨機誤差指標</a:t>
            </a:r>
            <a:endParaRPr lang="zh-TW" altLang="en-US" sz="3470" dirty="0">
              <a:latin typeface="標楷體" panose="03000509000000000000" pitchFamily="65" charset="-120"/>
              <a:ea typeface="標楷體" panose="03000509000000000000" pitchFamily="65" charset="-120"/>
            </a:endParaRPr>
          </a:p>
        </p:txBody>
      </p:sp>
      <p:sp>
        <p:nvSpPr>
          <p:cNvPr id="18" name="文字方塊 17">
            <a:extLst>
              <a:ext uri="{FF2B5EF4-FFF2-40B4-BE49-F238E27FC236}">
                <a16:creationId xmlns:a16="http://schemas.microsoft.com/office/drawing/2014/main" id="{A0D2C424-E20F-62D7-7EFA-FCAD242192FA}"/>
              </a:ext>
            </a:extLst>
          </p:cNvPr>
          <p:cNvSpPr txBox="1"/>
          <p:nvPr/>
        </p:nvSpPr>
        <p:spPr>
          <a:xfrm>
            <a:off x="722574" y="14869873"/>
            <a:ext cx="4126714" cy="2228302"/>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透</a:t>
            </a:r>
            <a:r>
              <a:rPr lang="zh-TW" altLang="en-US" sz="3470" dirty="0">
                <a:latin typeface="標楷體" panose="03000509000000000000" pitchFamily="65" charset="-120"/>
                <a:ea typeface="標楷體" panose="03000509000000000000" pitchFamily="65" charset="-120"/>
              </a:rPr>
              <a:t>過</a:t>
            </a:r>
            <a:r>
              <a:rPr lang="en-US" altLang="zh-TW" sz="3470" dirty="0" err="1">
                <a:latin typeface="標楷體" panose="03000509000000000000" pitchFamily="65" charset="-120"/>
                <a:ea typeface="標楷體" panose="03000509000000000000" pitchFamily="65" charset="-120"/>
              </a:rPr>
              <a:t>scipy.optimize.curve_fit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尋找讓誤差最小的參數</a:t>
            </a:r>
            <a:endParaRPr lang="zh-TW" altLang="en-US" sz="3470" dirty="0"/>
          </a:p>
        </p:txBody>
      </p:sp>
      <p:sp>
        <p:nvSpPr>
          <p:cNvPr id="20" name="文字方塊 19">
            <a:extLst>
              <a:ext uri="{FF2B5EF4-FFF2-40B4-BE49-F238E27FC236}">
                <a16:creationId xmlns:a16="http://schemas.microsoft.com/office/drawing/2014/main" id="{FE0E8566-E1EB-404D-8F5A-65308552377F}"/>
              </a:ext>
            </a:extLst>
          </p:cNvPr>
          <p:cNvSpPr txBox="1"/>
          <p:nvPr/>
        </p:nvSpPr>
        <p:spPr>
          <a:xfrm>
            <a:off x="722574" y="11828245"/>
            <a:ext cx="3823338"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帶有誤差的抽水試驗觀測數據</a:t>
            </a:r>
            <a:endParaRPr lang="zh-TW" altLang="en-US" sz="3470" dirty="0">
              <a:latin typeface="標楷體" panose="03000509000000000000" pitchFamily="65" charset="-120"/>
              <a:ea typeface="標楷體" panose="03000509000000000000" pitchFamily="65" charset="-120"/>
            </a:endParaRPr>
          </a:p>
        </p:txBody>
      </p:sp>
      <p:sp>
        <p:nvSpPr>
          <p:cNvPr id="25" name="文字方塊 24">
            <a:extLst>
              <a:ext uri="{FF2B5EF4-FFF2-40B4-BE49-F238E27FC236}">
                <a16:creationId xmlns:a16="http://schemas.microsoft.com/office/drawing/2014/main" id="{629460A3-7CB0-9A4E-9C6F-8B870EADE1E8}"/>
              </a:ext>
            </a:extLst>
          </p:cNvPr>
          <p:cNvSpPr txBox="1"/>
          <p:nvPr/>
        </p:nvSpPr>
        <p:spPr>
          <a:xfrm>
            <a:off x="1019405" y="22716678"/>
            <a:ext cx="34855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是否存在系統性偏差</a:t>
            </a:r>
            <a:r>
              <a:rPr lang="en-US" altLang="zh-TW" sz="3470" dirty="0">
                <a:latin typeface="標楷體" panose="03000509000000000000" pitchFamily="65" charset="-120"/>
                <a:ea typeface="標楷體" panose="03000509000000000000" pitchFamily="65" charset="-120"/>
              </a:rPr>
              <a:t>?</a:t>
            </a:r>
            <a:endParaRPr lang="zh-TW" altLang="en-US" sz="3470" dirty="0"/>
          </a:p>
        </p:txBody>
      </p:sp>
      <p:sp>
        <p:nvSpPr>
          <p:cNvPr id="22" name="文字方塊 21">
            <a:extLst>
              <a:ext uri="{FF2B5EF4-FFF2-40B4-BE49-F238E27FC236}">
                <a16:creationId xmlns:a16="http://schemas.microsoft.com/office/drawing/2014/main" id="{4F6B31F4-5BF0-85CE-8C04-1B6CE8A8C49D}"/>
              </a:ext>
            </a:extLst>
          </p:cNvPr>
          <p:cNvSpPr txBox="1"/>
          <p:nvPr/>
        </p:nvSpPr>
        <p:spPr>
          <a:xfrm>
            <a:off x="1293686" y="19408782"/>
            <a:ext cx="3522346" cy="626325"/>
          </a:xfrm>
          <a:prstGeom prst="rect">
            <a:avLst/>
          </a:prstGeom>
          <a:noFill/>
        </p:spPr>
        <p:txBody>
          <a:bodyPr wrap="square" rtlCol="0">
            <a:spAutoFit/>
          </a:bodyPr>
          <a:lstStyle/>
          <a:p>
            <a:pPr algn="just"/>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與</a:t>
            </a:r>
            <a:r>
              <a:rPr lang="en-US" altLang="zh-TW" sz="3470" dirty="0">
                <a:latin typeface="標楷體" panose="03000509000000000000" pitchFamily="65" charset="-120"/>
                <a:ea typeface="標楷體" panose="03000509000000000000" pitchFamily="65" charset="-120"/>
              </a:rPr>
              <a:t>ME</a:t>
            </a:r>
            <a:r>
              <a:rPr lang="zh-TW" altLang="en-US" sz="3470" dirty="0">
                <a:latin typeface="標楷體" panose="03000509000000000000" pitchFamily="65" charset="-120"/>
                <a:ea typeface="標楷體" panose="03000509000000000000" pitchFamily="65" charset="-120"/>
              </a:rPr>
              <a:t>評估檢查</a:t>
            </a:r>
            <a:endParaRPr lang="zh-TW" altLang="en-US" sz="3470" dirty="0"/>
          </a:p>
        </p:txBody>
      </p:sp>
      <p:sp>
        <p:nvSpPr>
          <p:cNvPr id="28" name="文字方塊 27">
            <a:extLst>
              <a:ext uri="{FF2B5EF4-FFF2-40B4-BE49-F238E27FC236}">
                <a16:creationId xmlns:a16="http://schemas.microsoft.com/office/drawing/2014/main" id="{A2FC4333-D04C-5B6E-715F-02D680AA00FB}"/>
              </a:ext>
            </a:extLst>
          </p:cNvPr>
          <p:cNvSpPr txBox="1"/>
          <p:nvPr/>
        </p:nvSpPr>
        <p:spPr>
          <a:xfrm>
            <a:off x="1606590" y="26663126"/>
            <a:ext cx="2493646" cy="626325"/>
          </a:xfrm>
          <a:prstGeom prst="rect">
            <a:avLst/>
          </a:prstGeom>
          <a:noFill/>
        </p:spPr>
        <p:txBody>
          <a:bodyPr wrap="square" rtlCol="0">
            <a:spAutoFit/>
          </a:bodyPr>
          <a:lstStyle/>
          <a:p>
            <a:pPr algn="just"/>
            <a:r>
              <a:rPr lang="zh-TW" altLang="en-US" sz="3470" dirty="0">
                <a:latin typeface="標楷體" panose="03000509000000000000" pitchFamily="65" charset="-120"/>
                <a:ea typeface="標楷體" panose="03000509000000000000" pitchFamily="65" charset="-120"/>
              </a:rPr>
              <a:t>寫一個迴圈</a:t>
            </a:r>
          </a:p>
        </p:txBody>
      </p:sp>
      <p:sp>
        <p:nvSpPr>
          <p:cNvPr id="30" name="文字方塊 29">
            <a:extLst>
              <a:ext uri="{FF2B5EF4-FFF2-40B4-BE49-F238E27FC236}">
                <a16:creationId xmlns:a16="http://schemas.microsoft.com/office/drawing/2014/main" id="{3F5FD9EF-2FEC-7533-CF83-9D35EA519BEA}"/>
              </a:ext>
            </a:extLst>
          </p:cNvPr>
          <p:cNvSpPr txBox="1"/>
          <p:nvPr/>
        </p:nvSpPr>
        <p:spPr>
          <a:xfrm>
            <a:off x="985454" y="28830580"/>
            <a:ext cx="3312225"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隨機生成</a:t>
            </a:r>
            <a:r>
              <a:rPr lang="en-US" altLang="zh-TW" sz="3470" dirty="0">
                <a:latin typeface="標楷體" panose="03000509000000000000" pitchFamily="65" charset="-120"/>
                <a:ea typeface="標楷體" panose="03000509000000000000" pitchFamily="65" charset="-120"/>
              </a:rPr>
              <a:t>1000</a:t>
            </a:r>
            <a:r>
              <a:rPr lang="zh-TW" altLang="en-US" sz="3470" dirty="0">
                <a:latin typeface="標楷體" panose="03000509000000000000" pitchFamily="65" charset="-120"/>
                <a:ea typeface="標楷體" panose="03000509000000000000" pitchFamily="65" charset="-120"/>
              </a:rPr>
              <a:t>組水文參數組合</a:t>
            </a:r>
          </a:p>
        </p:txBody>
      </p:sp>
      <p:sp>
        <p:nvSpPr>
          <p:cNvPr id="32" name="文字方塊 31">
            <a:extLst>
              <a:ext uri="{FF2B5EF4-FFF2-40B4-BE49-F238E27FC236}">
                <a16:creationId xmlns:a16="http://schemas.microsoft.com/office/drawing/2014/main" id="{D15D5E12-607C-AD8F-E62B-765BF7639B8F}"/>
              </a:ext>
            </a:extLst>
          </p:cNvPr>
          <p:cNvSpPr txBox="1"/>
          <p:nvPr/>
        </p:nvSpPr>
        <p:spPr>
          <a:xfrm>
            <a:off x="936206" y="31111961"/>
            <a:ext cx="3164030"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輸出</a:t>
            </a:r>
            <a:r>
              <a:rPr lang="en-US" altLang="zh-TW" sz="3470" dirty="0">
                <a:latin typeface="標楷體" panose="03000509000000000000" pitchFamily="65" charset="-120"/>
                <a:ea typeface="標楷體" panose="03000509000000000000" pitchFamily="65" charset="-120"/>
              </a:rPr>
              <a:t>1000 </a:t>
            </a:r>
            <a:r>
              <a:rPr lang="zh-TW" altLang="zh-TW" sz="3470" dirty="0">
                <a:latin typeface="標楷體" panose="03000509000000000000" pitchFamily="65" charset="-120"/>
                <a:ea typeface="標楷體" panose="03000509000000000000" pitchFamily="65" charset="-120"/>
              </a:rPr>
              <a:t>條水位洩降曲線</a:t>
            </a:r>
            <a:endParaRPr lang="zh-TW" altLang="en-US" sz="3470" dirty="0">
              <a:latin typeface="標楷體" panose="03000509000000000000" pitchFamily="65" charset="-120"/>
              <a:ea typeface="標楷體" panose="03000509000000000000" pitchFamily="65" charset="-120"/>
            </a:endParaRPr>
          </a:p>
        </p:txBody>
      </p:sp>
      <p:sp>
        <p:nvSpPr>
          <p:cNvPr id="34" name="文字方塊 33">
            <a:extLst>
              <a:ext uri="{FF2B5EF4-FFF2-40B4-BE49-F238E27FC236}">
                <a16:creationId xmlns:a16="http://schemas.microsoft.com/office/drawing/2014/main" id="{8839168D-1318-5858-BE3F-77CAD1516889}"/>
              </a:ext>
            </a:extLst>
          </p:cNvPr>
          <p:cNvSpPr txBox="1"/>
          <p:nvPr/>
        </p:nvSpPr>
        <p:spPr>
          <a:xfrm>
            <a:off x="1332003" y="34832285"/>
            <a:ext cx="3143917"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建立專屬的機器學習資料集</a:t>
            </a:r>
            <a:endParaRPr lang="zh-TW" altLang="en-US" sz="3470" dirty="0">
              <a:latin typeface="標楷體" panose="03000509000000000000" pitchFamily="65" charset="-120"/>
              <a:ea typeface="標楷體" panose="03000509000000000000" pitchFamily="65" charset="-120"/>
            </a:endParaRPr>
          </a:p>
        </p:txBody>
      </p:sp>
      <p:sp>
        <p:nvSpPr>
          <p:cNvPr id="36" name="文字方塊 35">
            <a:extLst>
              <a:ext uri="{FF2B5EF4-FFF2-40B4-BE49-F238E27FC236}">
                <a16:creationId xmlns:a16="http://schemas.microsoft.com/office/drawing/2014/main" id="{5FEE7490-4199-8A6B-ED92-E0F6C8145DE6}"/>
              </a:ext>
            </a:extLst>
          </p:cNvPr>
          <p:cNvSpPr txBox="1"/>
          <p:nvPr/>
        </p:nvSpPr>
        <p:spPr>
          <a:xfrm>
            <a:off x="1764538" y="37922376"/>
            <a:ext cx="2411319" cy="1694310"/>
          </a:xfrm>
          <a:prstGeom prst="rect">
            <a:avLst/>
          </a:prstGeom>
          <a:noFill/>
        </p:spPr>
        <p:txBody>
          <a:bodyPr wrap="square" rtlCol="0">
            <a:spAutoFit/>
          </a:bodyPr>
          <a:lstStyle/>
          <a:p>
            <a:pPr algn="ctr"/>
            <a:r>
              <a:rPr lang="en-US" altLang="zh-TW" sz="3470" dirty="0">
                <a:latin typeface="標楷體" panose="03000509000000000000" pitchFamily="65" charset="-120"/>
                <a:ea typeface="標楷體" panose="03000509000000000000" pitchFamily="65" charset="-120"/>
              </a:rPr>
              <a:t>Random Forest </a:t>
            </a:r>
            <a:r>
              <a:rPr lang="zh-TW" altLang="en-US" sz="3470" dirty="0">
                <a:latin typeface="標楷體" panose="03000509000000000000" pitchFamily="65" charset="-120"/>
                <a:ea typeface="標楷體" panose="03000509000000000000" pitchFamily="65" charset="-120"/>
              </a:rPr>
              <a:t>訓練一個模型</a:t>
            </a:r>
          </a:p>
        </p:txBody>
      </p:sp>
      <p:sp>
        <p:nvSpPr>
          <p:cNvPr id="39" name="文字方塊 38">
            <a:extLst>
              <a:ext uri="{FF2B5EF4-FFF2-40B4-BE49-F238E27FC236}">
                <a16:creationId xmlns:a16="http://schemas.microsoft.com/office/drawing/2014/main" id="{01765FD7-4E2E-E960-809E-E1143C13A70A}"/>
              </a:ext>
            </a:extLst>
          </p:cNvPr>
          <p:cNvSpPr txBox="1"/>
          <p:nvPr/>
        </p:nvSpPr>
        <p:spPr>
          <a:xfrm>
            <a:off x="1097746" y="40331287"/>
            <a:ext cx="3410024"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預測出四個水文參數</a:t>
            </a:r>
          </a:p>
        </p:txBody>
      </p:sp>
      <p:sp>
        <p:nvSpPr>
          <p:cNvPr id="44" name="文字方塊 43">
            <a:extLst>
              <a:ext uri="{FF2B5EF4-FFF2-40B4-BE49-F238E27FC236}">
                <a16:creationId xmlns:a16="http://schemas.microsoft.com/office/drawing/2014/main" id="{9C852ECE-9BA0-BDDD-FE82-EFF6E83E5C9B}"/>
              </a:ext>
            </a:extLst>
          </p:cNvPr>
          <p:cNvSpPr txBox="1"/>
          <p:nvPr/>
        </p:nvSpPr>
        <p:spPr>
          <a:xfrm>
            <a:off x="17711570" y="993414"/>
            <a:ext cx="4731764"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將保留的測試集丟給訓練好的模型預測</a:t>
            </a:r>
            <a:r>
              <a:rPr lang="zh-TW" altLang="en-US" sz="3470" dirty="0">
                <a:latin typeface="標楷體" panose="03000509000000000000" pitchFamily="65" charset="-120"/>
                <a:ea typeface="標楷體" panose="03000509000000000000" pitchFamily="65" charset="-120"/>
              </a:rPr>
              <a:t>四個水文參數</a:t>
            </a:r>
          </a:p>
        </p:txBody>
      </p:sp>
      <p:sp>
        <p:nvSpPr>
          <p:cNvPr id="42" name="文字方塊 41">
            <a:extLst>
              <a:ext uri="{FF2B5EF4-FFF2-40B4-BE49-F238E27FC236}">
                <a16:creationId xmlns:a16="http://schemas.microsoft.com/office/drawing/2014/main" id="{02763C52-E447-8194-01C0-F809D7C49464}"/>
              </a:ext>
            </a:extLst>
          </p:cNvPr>
          <p:cNvSpPr txBox="1"/>
          <p:nvPr/>
        </p:nvSpPr>
        <p:spPr>
          <a:xfrm>
            <a:off x="17913750" y="5016387"/>
            <a:ext cx="3820806"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計算預測參數與真實參數的誤差</a:t>
            </a:r>
          </a:p>
        </p:txBody>
      </p:sp>
      <p:sp>
        <p:nvSpPr>
          <p:cNvPr id="46" name="文字方塊 45">
            <a:extLst>
              <a:ext uri="{FF2B5EF4-FFF2-40B4-BE49-F238E27FC236}">
                <a16:creationId xmlns:a16="http://schemas.microsoft.com/office/drawing/2014/main" id="{7510024F-E644-540F-4AEE-2B8A7EF2E943}"/>
              </a:ext>
            </a:extLst>
          </p:cNvPr>
          <p:cNvSpPr txBox="1"/>
          <p:nvPr/>
        </p:nvSpPr>
        <p:spPr>
          <a:xfrm>
            <a:off x="17355224" y="9256145"/>
            <a:ext cx="5088110"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誤差是否接受</a:t>
            </a:r>
            <a:r>
              <a:rPr lang="en-US" altLang="zh-TW" sz="3470" dirty="0">
                <a:latin typeface="標楷體" panose="03000509000000000000" pitchFamily="65" charset="-120"/>
                <a:ea typeface="標楷體" panose="03000509000000000000" pitchFamily="65" charset="-120"/>
              </a:rPr>
              <a:t>?</a:t>
            </a:r>
            <a:endParaRPr lang="zh-TW" altLang="en-US" sz="3470" dirty="0">
              <a:latin typeface="標楷體" panose="03000509000000000000" pitchFamily="65" charset="-120"/>
              <a:ea typeface="標楷體" panose="03000509000000000000" pitchFamily="65" charset="-120"/>
            </a:endParaRPr>
          </a:p>
        </p:txBody>
      </p:sp>
      <p:sp>
        <p:nvSpPr>
          <p:cNvPr id="48" name="文字方塊 47">
            <a:extLst>
              <a:ext uri="{FF2B5EF4-FFF2-40B4-BE49-F238E27FC236}">
                <a16:creationId xmlns:a16="http://schemas.microsoft.com/office/drawing/2014/main" id="{0BC20DFB-5245-3C81-E85B-3F18C0EED962}"/>
              </a:ext>
            </a:extLst>
          </p:cNvPr>
          <p:cNvSpPr txBox="1"/>
          <p:nvPr/>
        </p:nvSpPr>
        <p:spPr>
          <a:xfrm>
            <a:off x="17634093" y="13187819"/>
            <a:ext cx="5097854"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藉由已建好的</a:t>
            </a:r>
            <a:r>
              <a:rPr lang="en-US" altLang="zh-TW" sz="3470" dirty="0">
                <a:latin typeface="標楷體" panose="03000509000000000000" pitchFamily="65" charset="-120"/>
                <a:ea typeface="標楷體" panose="03000509000000000000" pitchFamily="65" charset="-120"/>
              </a:rPr>
              <a:t>1000</a:t>
            </a:r>
            <a:r>
              <a:rPr lang="zh-TW" altLang="zh-TW" sz="3470" dirty="0">
                <a:latin typeface="標楷體" panose="03000509000000000000" pitchFamily="65" charset="-120"/>
                <a:ea typeface="標楷體" panose="03000509000000000000" pitchFamily="65" charset="-120"/>
              </a:rPr>
              <a:t>組資料集，訓練一個簡單的條件式</a:t>
            </a:r>
            <a:r>
              <a:rPr lang="en-US" altLang="zh-TW" sz="3470" dirty="0">
                <a:latin typeface="標楷體" panose="03000509000000000000" pitchFamily="65" charset="-120"/>
                <a:ea typeface="標楷體" panose="03000509000000000000" pitchFamily="65" charset="-120"/>
              </a:rPr>
              <a:t> Flow Matching</a:t>
            </a:r>
            <a:endParaRPr lang="zh-TW" altLang="en-US" sz="3470" dirty="0"/>
          </a:p>
        </p:txBody>
      </p:sp>
      <p:sp>
        <p:nvSpPr>
          <p:cNvPr id="50" name="文字方塊 49">
            <a:extLst>
              <a:ext uri="{FF2B5EF4-FFF2-40B4-BE49-F238E27FC236}">
                <a16:creationId xmlns:a16="http://schemas.microsoft.com/office/drawing/2014/main" id="{1E825896-A991-DF27-410D-AA3157FA7513}"/>
              </a:ext>
            </a:extLst>
          </p:cNvPr>
          <p:cNvSpPr txBox="1"/>
          <p:nvPr/>
        </p:nvSpPr>
        <p:spPr>
          <a:xfrm>
            <a:off x="17543332" y="17717714"/>
            <a:ext cx="4867202"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設定</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讓模型接收同一條帶有雜訊的水位洩降曲線作為條件</a:t>
            </a:r>
            <a:endParaRPr lang="zh-TW" altLang="en-US" sz="3470" dirty="0"/>
          </a:p>
        </p:txBody>
      </p:sp>
      <p:sp>
        <p:nvSpPr>
          <p:cNvPr id="52" name="文字方塊 51">
            <a:extLst>
              <a:ext uri="{FF2B5EF4-FFF2-40B4-BE49-F238E27FC236}">
                <a16:creationId xmlns:a16="http://schemas.microsoft.com/office/drawing/2014/main" id="{682241FB-C103-5B11-811A-23256688DF0F}"/>
              </a:ext>
            </a:extLst>
          </p:cNvPr>
          <p:cNvSpPr txBox="1"/>
          <p:nvPr/>
        </p:nvSpPr>
        <p:spPr>
          <a:xfrm>
            <a:off x="17265564" y="22716677"/>
            <a:ext cx="48672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a:t>
            </a:r>
            <a:endParaRPr lang="zh-TW" altLang="en-US" sz="3470" dirty="0"/>
          </a:p>
        </p:txBody>
      </p:sp>
      <p:sp>
        <p:nvSpPr>
          <p:cNvPr id="54" name="文字方塊 53">
            <a:extLst>
              <a:ext uri="{FF2B5EF4-FFF2-40B4-BE49-F238E27FC236}">
                <a16:creationId xmlns:a16="http://schemas.microsoft.com/office/drawing/2014/main" id="{754B9770-D7E3-4B3C-18A7-24F42C508A29}"/>
              </a:ext>
            </a:extLst>
          </p:cNvPr>
          <p:cNvSpPr txBox="1"/>
          <p:nvPr/>
        </p:nvSpPr>
        <p:spPr>
          <a:xfrm>
            <a:off x="16867354" y="27289451"/>
            <a:ext cx="48672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利用</a:t>
            </a:r>
            <a:r>
              <a:rPr lang="en-US" altLang="zh-TW" sz="3470" dirty="0">
                <a:latin typeface="標楷體" panose="03000509000000000000" pitchFamily="65" charset="-120"/>
                <a:ea typeface="標楷體" panose="03000509000000000000" pitchFamily="65" charset="-120"/>
              </a:rPr>
              <a:t> ODE </a:t>
            </a:r>
            <a:r>
              <a:rPr lang="zh-TW" altLang="zh-TW" sz="3470" dirty="0">
                <a:latin typeface="標楷體" panose="03000509000000000000" pitchFamily="65" charset="-120"/>
                <a:ea typeface="標楷體" panose="03000509000000000000" pitchFamily="65" charset="-120"/>
              </a:rPr>
              <a:t>數值積分逐步推演</a:t>
            </a:r>
            <a:endParaRPr lang="zh-TW" altLang="en-US" sz="3470" dirty="0"/>
          </a:p>
        </p:txBody>
      </p:sp>
      <p:sp>
        <p:nvSpPr>
          <p:cNvPr id="55" name="流程圖: 資料 54">
            <a:extLst>
              <a:ext uri="{FF2B5EF4-FFF2-40B4-BE49-F238E27FC236}">
                <a16:creationId xmlns:a16="http://schemas.microsoft.com/office/drawing/2014/main" id="{C29D65BB-786F-BA65-7EC0-44B8AB5BFE2D}"/>
              </a:ext>
            </a:extLst>
          </p:cNvPr>
          <p:cNvSpPr/>
          <p:nvPr/>
        </p:nvSpPr>
        <p:spPr>
          <a:xfrm>
            <a:off x="16305497" y="29751754"/>
            <a:ext cx="6332139" cy="2870928"/>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56" name="文字方塊 55">
            <a:extLst>
              <a:ext uri="{FF2B5EF4-FFF2-40B4-BE49-F238E27FC236}">
                <a16:creationId xmlns:a16="http://schemas.microsoft.com/office/drawing/2014/main" id="{4F68DAA1-911D-736A-8327-92D08DFB1D9B}"/>
              </a:ext>
            </a:extLst>
          </p:cNvPr>
          <p:cNvSpPr txBox="1"/>
          <p:nvPr/>
        </p:nvSpPr>
        <p:spPr>
          <a:xfrm>
            <a:off x="17208577" y="30759622"/>
            <a:ext cx="461833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生成 </a:t>
            </a:r>
            <a:r>
              <a:rPr lang="en-US" altLang="zh-TW" sz="3470" dirty="0">
                <a:latin typeface="標楷體" panose="03000509000000000000" pitchFamily="65" charset="-120"/>
                <a:ea typeface="標楷體" panose="03000509000000000000" pitchFamily="65" charset="-120"/>
              </a:rPr>
              <a:t>100 </a:t>
            </a:r>
            <a:r>
              <a:rPr lang="zh-TW" altLang="zh-TW" sz="3470" dirty="0">
                <a:latin typeface="標楷體" panose="03000509000000000000" pitchFamily="65" charset="-120"/>
                <a:ea typeface="標楷體" panose="03000509000000000000" pitchFamily="65" charset="-120"/>
              </a:rPr>
              <a:t>組可能的地下水參數組合</a:t>
            </a:r>
            <a:endParaRPr lang="zh-TW" altLang="en-US" sz="3470" dirty="0"/>
          </a:p>
        </p:txBody>
      </p:sp>
      <p:sp>
        <p:nvSpPr>
          <p:cNvPr id="58" name="文字方塊 57">
            <a:extLst>
              <a:ext uri="{FF2B5EF4-FFF2-40B4-BE49-F238E27FC236}">
                <a16:creationId xmlns:a16="http://schemas.microsoft.com/office/drawing/2014/main" id="{E7C73338-5055-4069-C021-2FE18FC3CD71}"/>
              </a:ext>
            </a:extLst>
          </p:cNvPr>
          <p:cNvSpPr txBox="1"/>
          <p:nvPr/>
        </p:nvSpPr>
        <p:spPr>
          <a:xfrm>
            <a:off x="16611176" y="34441048"/>
            <a:ext cx="4038234"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參數組合是否集中</a:t>
            </a:r>
            <a:r>
              <a:rPr lang="en-US" altLang="zh-TW" sz="3470" dirty="0">
                <a:latin typeface="標楷體" panose="03000509000000000000" pitchFamily="65" charset="-120"/>
                <a:ea typeface="標楷體" panose="03000509000000000000" pitchFamily="65" charset="-120"/>
              </a:rPr>
              <a:t>?</a:t>
            </a:r>
          </a:p>
        </p:txBody>
      </p:sp>
      <p:sp>
        <p:nvSpPr>
          <p:cNvPr id="60" name="流程圖: 結束點 59">
            <a:extLst>
              <a:ext uri="{FF2B5EF4-FFF2-40B4-BE49-F238E27FC236}">
                <a16:creationId xmlns:a16="http://schemas.microsoft.com/office/drawing/2014/main" id="{67F2882B-6156-F70C-C16F-BD78C83CFC1C}"/>
              </a:ext>
            </a:extLst>
          </p:cNvPr>
          <p:cNvSpPr/>
          <p:nvPr/>
        </p:nvSpPr>
        <p:spPr>
          <a:xfrm>
            <a:off x="14719462" y="37249502"/>
            <a:ext cx="3332634" cy="1852051"/>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1" name="流程圖: 結束點 60">
            <a:extLst>
              <a:ext uri="{FF2B5EF4-FFF2-40B4-BE49-F238E27FC236}">
                <a16:creationId xmlns:a16="http://schemas.microsoft.com/office/drawing/2014/main" id="{0376A0E2-9AA7-5C09-1D9E-AB62F87DBE60}"/>
              </a:ext>
            </a:extLst>
          </p:cNvPr>
          <p:cNvSpPr/>
          <p:nvPr/>
        </p:nvSpPr>
        <p:spPr>
          <a:xfrm>
            <a:off x="16857809" y="40451622"/>
            <a:ext cx="3979594" cy="2149987"/>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3" name="文字方塊 62">
            <a:extLst>
              <a:ext uri="{FF2B5EF4-FFF2-40B4-BE49-F238E27FC236}">
                <a16:creationId xmlns:a16="http://schemas.microsoft.com/office/drawing/2014/main" id="{D298E1F3-80D8-2E09-86E5-B9D263F02474}"/>
              </a:ext>
            </a:extLst>
          </p:cNvPr>
          <p:cNvSpPr txBox="1"/>
          <p:nvPr/>
        </p:nvSpPr>
        <p:spPr>
          <a:xfrm>
            <a:off x="17034086" y="41299709"/>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結論</a:t>
            </a:r>
          </a:p>
        </p:txBody>
      </p:sp>
      <p:sp>
        <p:nvSpPr>
          <p:cNvPr id="64" name="文字方塊 63">
            <a:extLst>
              <a:ext uri="{FF2B5EF4-FFF2-40B4-BE49-F238E27FC236}">
                <a16:creationId xmlns:a16="http://schemas.microsoft.com/office/drawing/2014/main" id="{7A593C7E-D7D4-0BB1-305C-F68832DFC9E9}"/>
              </a:ext>
            </a:extLst>
          </p:cNvPr>
          <p:cNvSpPr txBox="1"/>
          <p:nvPr/>
        </p:nvSpPr>
        <p:spPr>
          <a:xfrm>
            <a:off x="19790605" y="37714676"/>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集中</a:t>
            </a:r>
          </a:p>
        </p:txBody>
      </p:sp>
      <p:sp>
        <p:nvSpPr>
          <p:cNvPr id="65" name="文字方塊 64">
            <a:extLst>
              <a:ext uri="{FF2B5EF4-FFF2-40B4-BE49-F238E27FC236}">
                <a16:creationId xmlns:a16="http://schemas.microsoft.com/office/drawing/2014/main" id="{ADC015CE-9CDE-931A-B483-2586ACEB9077}"/>
              </a:ext>
            </a:extLst>
          </p:cNvPr>
          <p:cNvSpPr txBox="1"/>
          <p:nvPr/>
        </p:nvSpPr>
        <p:spPr>
          <a:xfrm>
            <a:off x="14768508" y="37714676"/>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離散</a:t>
            </a:r>
          </a:p>
        </p:txBody>
      </p:sp>
      <p:cxnSp>
        <p:nvCxnSpPr>
          <p:cNvPr id="69" name="接點: 肘形 68">
            <a:extLst>
              <a:ext uri="{FF2B5EF4-FFF2-40B4-BE49-F238E27FC236}">
                <a16:creationId xmlns:a16="http://schemas.microsoft.com/office/drawing/2014/main" id="{B47A73BF-CAF0-A4CC-2D5E-4B53E06CC769}"/>
              </a:ext>
            </a:extLst>
          </p:cNvPr>
          <p:cNvCxnSpPr>
            <a:cxnSpLocks/>
            <a:stCxn id="24" idx="3"/>
            <a:endCxn id="10" idx="3"/>
          </p:cNvCxnSpPr>
          <p:nvPr/>
        </p:nvCxnSpPr>
        <p:spPr>
          <a:xfrm flipH="1" flipV="1">
            <a:off x="5541917" y="7925156"/>
            <a:ext cx="26370" cy="15253934"/>
          </a:xfrm>
          <a:prstGeom prst="bentConnector3">
            <a:avLst>
              <a:gd name="adj1" fmla="val -866894"/>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C2327267-5A5E-CE03-E1EE-22A07B90A3C3}"/>
              </a:ext>
            </a:extLst>
          </p:cNvPr>
          <p:cNvSpPr txBox="1"/>
          <p:nvPr/>
        </p:nvSpPr>
        <p:spPr>
          <a:xfrm>
            <a:off x="5541917" y="16061848"/>
            <a:ext cx="743792" cy="626325"/>
          </a:xfrm>
          <a:prstGeom prst="rect">
            <a:avLst/>
          </a:prstGeom>
          <a:noFill/>
        </p:spPr>
        <p:txBody>
          <a:bodyPr wrap="square" rtlCol="0">
            <a:spAutoFit/>
          </a:bodyPr>
          <a:lstStyle/>
          <a:p>
            <a:r>
              <a:rPr lang="zh-TW" altLang="en-US" sz="3470" dirty="0"/>
              <a:t>是</a:t>
            </a:r>
          </a:p>
        </p:txBody>
      </p:sp>
      <p:cxnSp>
        <p:nvCxnSpPr>
          <p:cNvPr id="76" name="直線單箭頭接點 75">
            <a:extLst>
              <a:ext uri="{FF2B5EF4-FFF2-40B4-BE49-F238E27FC236}">
                <a16:creationId xmlns:a16="http://schemas.microsoft.com/office/drawing/2014/main" id="{1C63FDBF-EE9D-1F90-4D37-BCBB78D63446}"/>
              </a:ext>
            </a:extLst>
          </p:cNvPr>
          <p:cNvCxnSpPr>
            <a:cxnSpLocks/>
            <a:stCxn id="24" idx="2"/>
          </p:cNvCxnSpPr>
          <p:nvPr/>
        </p:nvCxnSpPr>
        <p:spPr>
          <a:xfrm flipH="1">
            <a:off x="2802758" y="24485033"/>
            <a:ext cx="43984" cy="126829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116">
            <a:extLst>
              <a:ext uri="{FF2B5EF4-FFF2-40B4-BE49-F238E27FC236}">
                <a16:creationId xmlns:a16="http://schemas.microsoft.com/office/drawing/2014/main" id="{4BE08C97-EC40-FF3D-C85A-B708CAF6BABF}"/>
              </a:ext>
            </a:extLst>
          </p:cNvPr>
          <p:cNvCxnSpPr>
            <a:stCxn id="5" idx="2"/>
          </p:cNvCxnSpPr>
          <p:nvPr/>
        </p:nvCxnSpPr>
        <p:spPr>
          <a:xfrm flipH="1">
            <a:off x="3474720" y="2093927"/>
            <a:ext cx="33388" cy="14932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a:extLst>
              <a:ext uri="{FF2B5EF4-FFF2-40B4-BE49-F238E27FC236}">
                <a16:creationId xmlns:a16="http://schemas.microsoft.com/office/drawing/2014/main" id="{E40D921B-3298-D6FC-418D-FED9FDCAB6E2}"/>
              </a:ext>
            </a:extLst>
          </p:cNvPr>
          <p:cNvCxnSpPr>
            <a:stCxn id="8" idx="2"/>
          </p:cNvCxnSpPr>
          <p:nvPr/>
        </p:nvCxnSpPr>
        <p:spPr>
          <a:xfrm>
            <a:off x="3288441" y="5550380"/>
            <a:ext cx="3399" cy="1143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a:extLst>
              <a:ext uri="{FF2B5EF4-FFF2-40B4-BE49-F238E27FC236}">
                <a16:creationId xmlns:a16="http://schemas.microsoft.com/office/drawing/2014/main" id="{0346DD82-A823-F12C-EF60-7073506D195E}"/>
              </a:ext>
            </a:extLst>
          </p:cNvPr>
          <p:cNvCxnSpPr>
            <a:stCxn id="102" idx="4"/>
          </p:cNvCxnSpPr>
          <p:nvPr/>
        </p:nvCxnSpPr>
        <p:spPr>
          <a:xfrm>
            <a:off x="2568610" y="13628199"/>
            <a:ext cx="14570" cy="11147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8ED21ABE-F51B-C34E-6DEB-CD680298ABAF}"/>
              </a:ext>
            </a:extLst>
          </p:cNvPr>
          <p:cNvCxnSpPr>
            <a:stCxn id="23" idx="2"/>
          </p:cNvCxnSpPr>
          <p:nvPr/>
        </p:nvCxnSpPr>
        <p:spPr>
          <a:xfrm>
            <a:off x="2785933" y="17174880"/>
            <a:ext cx="16825" cy="13760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a:extLst>
              <a:ext uri="{FF2B5EF4-FFF2-40B4-BE49-F238E27FC236}">
                <a16:creationId xmlns:a16="http://schemas.microsoft.com/office/drawing/2014/main" id="{D06166C9-47FF-40BB-C59C-95E0B728CC53}"/>
              </a:ext>
            </a:extLst>
          </p:cNvPr>
          <p:cNvCxnSpPr/>
          <p:nvPr/>
        </p:nvCxnSpPr>
        <p:spPr>
          <a:xfrm>
            <a:off x="2846742" y="20982868"/>
            <a:ext cx="0" cy="8902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8" name="直線單箭頭接點 127">
            <a:extLst>
              <a:ext uri="{FF2B5EF4-FFF2-40B4-BE49-F238E27FC236}">
                <a16:creationId xmlns:a16="http://schemas.microsoft.com/office/drawing/2014/main" id="{9C83B6C9-C404-83EB-21F8-565D05B7362A}"/>
              </a:ext>
            </a:extLst>
          </p:cNvPr>
          <p:cNvCxnSpPr>
            <a:stCxn id="104" idx="4"/>
          </p:cNvCxnSpPr>
          <p:nvPr/>
        </p:nvCxnSpPr>
        <p:spPr>
          <a:xfrm>
            <a:off x="2489132" y="32837856"/>
            <a:ext cx="79478" cy="135863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a:extLst>
              <a:ext uri="{FF2B5EF4-FFF2-40B4-BE49-F238E27FC236}">
                <a16:creationId xmlns:a16="http://schemas.microsoft.com/office/drawing/2014/main" id="{3AAD28D4-023C-DD83-22AE-3086B0BE2D07}"/>
              </a:ext>
            </a:extLst>
          </p:cNvPr>
          <p:cNvCxnSpPr>
            <a:stCxn id="79" idx="2"/>
            <a:endCxn id="2" idx="0"/>
          </p:cNvCxnSpPr>
          <p:nvPr/>
        </p:nvCxnSpPr>
        <p:spPr>
          <a:xfrm>
            <a:off x="2903963" y="36628395"/>
            <a:ext cx="66236" cy="1143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2" name="接點: 肘形 131">
            <a:extLst>
              <a:ext uri="{FF2B5EF4-FFF2-40B4-BE49-F238E27FC236}">
                <a16:creationId xmlns:a16="http://schemas.microsoft.com/office/drawing/2014/main" id="{C0FEEA78-DDC1-B971-533E-0E6ED11EC79B}"/>
              </a:ext>
            </a:extLst>
          </p:cNvPr>
          <p:cNvCxnSpPr>
            <a:cxnSpLocks/>
            <a:stCxn id="105" idx="4"/>
            <a:endCxn id="44" idx="1"/>
          </p:cNvCxnSpPr>
          <p:nvPr/>
        </p:nvCxnSpPr>
        <p:spPr>
          <a:xfrm rot="5400000" flipH="1" flipV="1">
            <a:off x="-9850476" y="14493803"/>
            <a:ext cx="40215279" cy="14908812"/>
          </a:xfrm>
          <a:prstGeom prst="bentConnector4">
            <a:avLst>
              <a:gd name="adj1" fmla="val -568"/>
              <a:gd name="adj2" fmla="val 58195"/>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a:extLst>
              <a:ext uri="{FF2B5EF4-FFF2-40B4-BE49-F238E27FC236}">
                <a16:creationId xmlns:a16="http://schemas.microsoft.com/office/drawing/2014/main" id="{C49F4F99-C8B2-4100-22B8-81FB4AA85468}"/>
              </a:ext>
            </a:extLst>
          </p:cNvPr>
          <p:cNvCxnSpPr>
            <a:stCxn id="106" idx="2"/>
            <a:endCxn id="107" idx="0"/>
          </p:cNvCxnSpPr>
          <p:nvPr/>
        </p:nvCxnSpPr>
        <p:spPr>
          <a:xfrm>
            <a:off x="20124809" y="2990443"/>
            <a:ext cx="114831" cy="141553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7" name="直線單箭頭接點 136">
            <a:extLst>
              <a:ext uri="{FF2B5EF4-FFF2-40B4-BE49-F238E27FC236}">
                <a16:creationId xmlns:a16="http://schemas.microsoft.com/office/drawing/2014/main" id="{344C204E-4295-BEAD-0101-E182288C7682}"/>
              </a:ext>
            </a:extLst>
          </p:cNvPr>
          <p:cNvCxnSpPr>
            <a:stCxn id="107" idx="4"/>
          </p:cNvCxnSpPr>
          <p:nvPr/>
        </p:nvCxnSpPr>
        <p:spPr>
          <a:xfrm>
            <a:off x="19750958" y="6694782"/>
            <a:ext cx="39647" cy="156858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9" name="直線單箭頭接點 138">
            <a:extLst>
              <a:ext uri="{FF2B5EF4-FFF2-40B4-BE49-F238E27FC236}">
                <a16:creationId xmlns:a16="http://schemas.microsoft.com/office/drawing/2014/main" id="{9CF74942-4F10-397F-02F8-7CE19F3FB21B}"/>
              </a:ext>
            </a:extLst>
          </p:cNvPr>
          <p:cNvCxnSpPr>
            <a:stCxn id="108" idx="2"/>
          </p:cNvCxnSpPr>
          <p:nvPr/>
        </p:nvCxnSpPr>
        <p:spPr>
          <a:xfrm>
            <a:off x="19752610" y="10875251"/>
            <a:ext cx="37995" cy="184720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a:extLst>
              <a:ext uri="{FF2B5EF4-FFF2-40B4-BE49-F238E27FC236}">
                <a16:creationId xmlns:a16="http://schemas.microsoft.com/office/drawing/2014/main" id="{A19D41E4-8CFB-81AB-F08C-D0690CC31C65}"/>
              </a:ext>
            </a:extLst>
          </p:cNvPr>
          <p:cNvCxnSpPr>
            <a:stCxn id="109" idx="2"/>
          </p:cNvCxnSpPr>
          <p:nvPr/>
        </p:nvCxnSpPr>
        <p:spPr>
          <a:xfrm>
            <a:off x="20239215" y="15184761"/>
            <a:ext cx="30533" cy="175816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3" name="直線單箭頭接點 142">
            <a:extLst>
              <a:ext uri="{FF2B5EF4-FFF2-40B4-BE49-F238E27FC236}">
                <a16:creationId xmlns:a16="http://schemas.microsoft.com/office/drawing/2014/main" id="{3217FDA2-47BF-304F-1B0A-9F8AFD934928}"/>
              </a:ext>
            </a:extLst>
          </p:cNvPr>
          <p:cNvCxnSpPr>
            <a:stCxn id="110" idx="4"/>
          </p:cNvCxnSpPr>
          <p:nvPr/>
        </p:nvCxnSpPr>
        <p:spPr>
          <a:xfrm flipH="1">
            <a:off x="19790605" y="20035107"/>
            <a:ext cx="49990" cy="171563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a:extLst>
              <a:ext uri="{FF2B5EF4-FFF2-40B4-BE49-F238E27FC236}">
                <a16:creationId xmlns:a16="http://schemas.microsoft.com/office/drawing/2014/main" id="{CCE8E077-B1B2-1705-8C2F-8457D813FCA1}"/>
              </a:ext>
            </a:extLst>
          </p:cNvPr>
          <p:cNvCxnSpPr>
            <a:stCxn id="111" idx="4"/>
          </p:cNvCxnSpPr>
          <p:nvPr/>
        </p:nvCxnSpPr>
        <p:spPr>
          <a:xfrm>
            <a:off x="19518722" y="24842927"/>
            <a:ext cx="3718" cy="152535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7" name="直線單箭頭接點 146">
            <a:extLst>
              <a:ext uri="{FF2B5EF4-FFF2-40B4-BE49-F238E27FC236}">
                <a16:creationId xmlns:a16="http://schemas.microsoft.com/office/drawing/2014/main" id="{B308B05E-EFE6-3253-48CF-525E83908BC5}"/>
              </a:ext>
            </a:extLst>
          </p:cNvPr>
          <p:cNvCxnSpPr>
            <a:stCxn id="112" idx="2"/>
          </p:cNvCxnSpPr>
          <p:nvPr/>
        </p:nvCxnSpPr>
        <p:spPr>
          <a:xfrm>
            <a:off x="19327896" y="28830580"/>
            <a:ext cx="34524" cy="92117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8">
            <a:extLst>
              <a:ext uri="{FF2B5EF4-FFF2-40B4-BE49-F238E27FC236}">
                <a16:creationId xmlns:a16="http://schemas.microsoft.com/office/drawing/2014/main" id="{E2EC69A3-73EE-A8E0-7146-CAE2A02EB3E6}"/>
              </a:ext>
            </a:extLst>
          </p:cNvPr>
          <p:cNvCxnSpPr/>
          <p:nvPr/>
        </p:nvCxnSpPr>
        <p:spPr>
          <a:xfrm>
            <a:off x="18699480" y="32622682"/>
            <a:ext cx="0" cy="64738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1" name="直線單箭頭接點 150">
            <a:extLst>
              <a:ext uri="{FF2B5EF4-FFF2-40B4-BE49-F238E27FC236}">
                <a16:creationId xmlns:a16="http://schemas.microsoft.com/office/drawing/2014/main" id="{C5DE7E25-2989-93BE-1BB4-C06F31CAA21B}"/>
              </a:ext>
            </a:extLst>
          </p:cNvPr>
          <p:cNvCxnSpPr>
            <a:stCxn id="59" idx="2"/>
            <a:endCxn id="60" idx="0"/>
          </p:cNvCxnSpPr>
          <p:nvPr/>
        </p:nvCxnSpPr>
        <p:spPr>
          <a:xfrm flipH="1">
            <a:off x="16385779" y="36140999"/>
            <a:ext cx="2182708" cy="110850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3" name="直線單箭頭接點 152">
            <a:extLst>
              <a:ext uri="{FF2B5EF4-FFF2-40B4-BE49-F238E27FC236}">
                <a16:creationId xmlns:a16="http://schemas.microsoft.com/office/drawing/2014/main" id="{A3F4049C-7194-51B8-F2A3-79B68F1285FC}"/>
              </a:ext>
            </a:extLst>
          </p:cNvPr>
          <p:cNvCxnSpPr>
            <a:stCxn id="59" idx="2"/>
            <a:endCxn id="113" idx="0"/>
          </p:cNvCxnSpPr>
          <p:nvPr/>
        </p:nvCxnSpPr>
        <p:spPr>
          <a:xfrm>
            <a:off x="18568487" y="36140999"/>
            <a:ext cx="2791463" cy="96081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5" name="直線單箭頭接點 154">
            <a:extLst>
              <a:ext uri="{FF2B5EF4-FFF2-40B4-BE49-F238E27FC236}">
                <a16:creationId xmlns:a16="http://schemas.microsoft.com/office/drawing/2014/main" id="{64278CDC-A284-78DB-F728-E21F04643F87}"/>
              </a:ext>
            </a:extLst>
          </p:cNvPr>
          <p:cNvCxnSpPr>
            <a:stCxn id="60" idx="2"/>
          </p:cNvCxnSpPr>
          <p:nvPr/>
        </p:nvCxnSpPr>
        <p:spPr>
          <a:xfrm>
            <a:off x="16385779" y="39101553"/>
            <a:ext cx="2313701" cy="13500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7" name="直線單箭頭接點 156">
            <a:extLst>
              <a:ext uri="{FF2B5EF4-FFF2-40B4-BE49-F238E27FC236}">
                <a16:creationId xmlns:a16="http://schemas.microsoft.com/office/drawing/2014/main" id="{129BE800-B921-FC0C-2E2A-3E216498AA1E}"/>
              </a:ext>
            </a:extLst>
          </p:cNvPr>
          <p:cNvCxnSpPr>
            <a:stCxn id="113" idx="2"/>
            <a:endCxn id="61" idx="0"/>
          </p:cNvCxnSpPr>
          <p:nvPr/>
        </p:nvCxnSpPr>
        <p:spPr>
          <a:xfrm flipH="1">
            <a:off x="18847606" y="38953863"/>
            <a:ext cx="2512344" cy="14977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9" name="文字方塊 158">
            <a:extLst>
              <a:ext uri="{FF2B5EF4-FFF2-40B4-BE49-F238E27FC236}">
                <a16:creationId xmlns:a16="http://schemas.microsoft.com/office/drawing/2014/main" id="{687C35F1-ED6A-A7D5-EF96-CABE13E20757}"/>
              </a:ext>
            </a:extLst>
          </p:cNvPr>
          <p:cNvSpPr txBox="1"/>
          <p:nvPr/>
        </p:nvSpPr>
        <p:spPr>
          <a:xfrm>
            <a:off x="2583180" y="24574507"/>
            <a:ext cx="1691640" cy="626325"/>
          </a:xfrm>
          <a:prstGeom prst="rect">
            <a:avLst/>
          </a:prstGeom>
          <a:noFill/>
        </p:spPr>
        <p:txBody>
          <a:bodyPr wrap="square" rtlCol="0">
            <a:spAutoFit/>
          </a:bodyPr>
          <a:lstStyle/>
          <a:p>
            <a:r>
              <a:rPr lang="zh-TW" altLang="en-US" sz="3470" dirty="0"/>
              <a:t>否</a:t>
            </a:r>
          </a:p>
        </p:txBody>
      </p:sp>
      <p:sp>
        <p:nvSpPr>
          <p:cNvPr id="161" name="文字方塊 160">
            <a:extLst>
              <a:ext uri="{FF2B5EF4-FFF2-40B4-BE49-F238E27FC236}">
                <a16:creationId xmlns:a16="http://schemas.microsoft.com/office/drawing/2014/main" id="{DE44DCBF-CEBE-E88E-E210-93AA890D9B18}"/>
              </a:ext>
            </a:extLst>
          </p:cNvPr>
          <p:cNvSpPr txBox="1"/>
          <p:nvPr/>
        </p:nvSpPr>
        <p:spPr>
          <a:xfrm>
            <a:off x="19517743" y="11407774"/>
            <a:ext cx="1304288" cy="626325"/>
          </a:xfrm>
          <a:prstGeom prst="rect">
            <a:avLst/>
          </a:prstGeom>
          <a:noFill/>
        </p:spPr>
        <p:txBody>
          <a:bodyPr wrap="square" rtlCol="0">
            <a:spAutoFit/>
          </a:bodyPr>
          <a:lstStyle/>
          <a:p>
            <a:r>
              <a:rPr lang="zh-TW" altLang="en-US" sz="3470" dirty="0"/>
              <a:t>是</a:t>
            </a:r>
          </a:p>
        </p:txBody>
      </p:sp>
      <p:sp>
        <p:nvSpPr>
          <p:cNvPr id="162" name="文字方塊 161">
            <a:extLst>
              <a:ext uri="{FF2B5EF4-FFF2-40B4-BE49-F238E27FC236}">
                <a16:creationId xmlns:a16="http://schemas.microsoft.com/office/drawing/2014/main" id="{533BDE09-7BC5-9C2A-A5BC-B1341E450636}"/>
              </a:ext>
            </a:extLst>
          </p:cNvPr>
          <p:cNvSpPr txBox="1"/>
          <p:nvPr/>
        </p:nvSpPr>
        <p:spPr>
          <a:xfrm>
            <a:off x="19578121" y="36250587"/>
            <a:ext cx="1304288" cy="626325"/>
          </a:xfrm>
          <a:prstGeom prst="rect">
            <a:avLst/>
          </a:prstGeom>
          <a:noFill/>
        </p:spPr>
        <p:txBody>
          <a:bodyPr wrap="square" rtlCol="0">
            <a:spAutoFit/>
          </a:bodyPr>
          <a:lstStyle/>
          <a:p>
            <a:r>
              <a:rPr lang="zh-TW" altLang="en-US" sz="3470" dirty="0"/>
              <a:t>是</a:t>
            </a:r>
          </a:p>
        </p:txBody>
      </p:sp>
      <p:sp>
        <p:nvSpPr>
          <p:cNvPr id="163" name="文字方塊 162">
            <a:extLst>
              <a:ext uri="{FF2B5EF4-FFF2-40B4-BE49-F238E27FC236}">
                <a16:creationId xmlns:a16="http://schemas.microsoft.com/office/drawing/2014/main" id="{7FF7CF20-4843-A249-B729-E294151A8629}"/>
              </a:ext>
            </a:extLst>
          </p:cNvPr>
          <p:cNvSpPr txBox="1"/>
          <p:nvPr/>
        </p:nvSpPr>
        <p:spPr>
          <a:xfrm>
            <a:off x="16960277" y="36315232"/>
            <a:ext cx="1691640" cy="626325"/>
          </a:xfrm>
          <a:prstGeom prst="rect">
            <a:avLst/>
          </a:prstGeom>
          <a:noFill/>
        </p:spPr>
        <p:txBody>
          <a:bodyPr wrap="square" rtlCol="0">
            <a:spAutoFit/>
          </a:bodyPr>
          <a:lstStyle/>
          <a:p>
            <a:r>
              <a:rPr lang="zh-TW" altLang="en-US" sz="3470" dirty="0"/>
              <a:t>否</a:t>
            </a:r>
          </a:p>
        </p:txBody>
      </p:sp>
    </p:spTree>
    <p:extLst>
      <p:ext uri="{BB962C8B-B14F-4D97-AF65-F5344CB8AC3E}">
        <p14:creationId xmlns:p14="http://schemas.microsoft.com/office/powerpoint/2010/main" val="3196499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79AA-CC7B-5F8E-F20E-6619273411C8}"/>
            </a:ext>
          </a:extLst>
        </p:cNvPr>
        <p:cNvGrpSpPr/>
        <p:nvPr/>
      </p:nvGrpSpPr>
      <p:grpSpPr>
        <a:xfrm>
          <a:off x="0" y="0"/>
          <a:ext cx="0" cy="0"/>
          <a:chOff x="0" y="0"/>
          <a:chExt cx="0" cy="0"/>
        </a:xfrm>
      </p:grpSpPr>
      <p:sp>
        <p:nvSpPr>
          <p:cNvPr id="6" name="流程圖: 預設程序 5">
            <a:extLst>
              <a:ext uri="{FF2B5EF4-FFF2-40B4-BE49-F238E27FC236}">
                <a16:creationId xmlns:a16="http://schemas.microsoft.com/office/drawing/2014/main" id="{800F84E9-DA70-06F5-3519-B4F83B848025}"/>
              </a:ext>
            </a:extLst>
          </p:cNvPr>
          <p:cNvSpPr/>
          <p:nvPr/>
        </p:nvSpPr>
        <p:spPr>
          <a:xfrm>
            <a:off x="23834657" y="18304891"/>
            <a:ext cx="4834267" cy="2462303"/>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12" name="流程圖: 程序 111">
            <a:extLst>
              <a:ext uri="{FF2B5EF4-FFF2-40B4-BE49-F238E27FC236}">
                <a16:creationId xmlns:a16="http://schemas.microsoft.com/office/drawing/2014/main" id="{7F536689-CFDE-2683-521A-D49E55234673}"/>
              </a:ext>
            </a:extLst>
          </p:cNvPr>
          <p:cNvSpPr/>
          <p:nvPr/>
        </p:nvSpPr>
        <p:spPr>
          <a:xfrm>
            <a:off x="23834657" y="27204778"/>
            <a:ext cx="4834267"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1" name="流程圖: 資料 110">
            <a:extLst>
              <a:ext uri="{FF2B5EF4-FFF2-40B4-BE49-F238E27FC236}">
                <a16:creationId xmlns:a16="http://schemas.microsoft.com/office/drawing/2014/main" id="{4807FD10-E71F-FF75-55B1-21E5BC19DC57}"/>
              </a:ext>
            </a:extLst>
          </p:cNvPr>
          <p:cNvSpPr/>
          <p:nvPr/>
        </p:nvSpPr>
        <p:spPr>
          <a:xfrm>
            <a:off x="23834658" y="22999256"/>
            <a:ext cx="4834266" cy="2462303"/>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6" name="流程圖: 程序 105">
            <a:extLst>
              <a:ext uri="{FF2B5EF4-FFF2-40B4-BE49-F238E27FC236}">
                <a16:creationId xmlns:a16="http://schemas.microsoft.com/office/drawing/2014/main" id="{98873216-963A-17A2-69F4-419F851C10B5}"/>
              </a:ext>
            </a:extLst>
          </p:cNvPr>
          <p:cNvSpPr/>
          <p:nvPr/>
        </p:nvSpPr>
        <p:spPr>
          <a:xfrm>
            <a:off x="23834656" y="13474371"/>
            <a:ext cx="483426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79" name="流程圖: 程序 78">
            <a:extLst>
              <a:ext uri="{FF2B5EF4-FFF2-40B4-BE49-F238E27FC236}">
                <a16:creationId xmlns:a16="http://schemas.microsoft.com/office/drawing/2014/main" id="{3FEB2D7A-3A6A-9785-B968-F5A5BFEA16A3}"/>
              </a:ext>
            </a:extLst>
          </p:cNvPr>
          <p:cNvSpPr/>
          <p:nvPr/>
        </p:nvSpPr>
        <p:spPr>
          <a:xfrm>
            <a:off x="23830627" y="4528458"/>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62" name="流程圖: 程序 61">
            <a:extLst>
              <a:ext uri="{FF2B5EF4-FFF2-40B4-BE49-F238E27FC236}">
                <a16:creationId xmlns:a16="http://schemas.microsoft.com/office/drawing/2014/main" id="{DF1ED6E2-D96F-A3C7-0231-DD4C0E6ED5F7}"/>
              </a:ext>
            </a:extLst>
          </p:cNvPr>
          <p:cNvSpPr/>
          <p:nvPr/>
        </p:nvSpPr>
        <p:spPr>
          <a:xfrm>
            <a:off x="1847547" y="25182355"/>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3" name="流程圖: 程序 22">
            <a:extLst>
              <a:ext uri="{FF2B5EF4-FFF2-40B4-BE49-F238E27FC236}">
                <a16:creationId xmlns:a16="http://schemas.microsoft.com/office/drawing/2014/main" id="{BC1060BB-49EC-4520-3AAC-3A24AC792B24}"/>
              </a:ext>
            </a:extLst>
          </p:cNvPr>
          <p:cNvSpPr/>
          <p:nvPr/>
        </p:nvSpPr>
        <p:spPr>
          <a:xfrm>
            <a:off x="1847547" y="20767194"/>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 name="流程圖: 預設程序 1">
            <a:extLst>
              <a:ext uri="{FF2B5EF4-FFF2-40B4-BE49-F238E27FC236}">
                <a16:creationId xmlns:a16="http://schemas.microsoft.com/office/drawing/2014/main" id="{6824D037-4D84-374C-673E-2CD322EBD3CE}"/>
              </a:ext>
            </a:extLst>
          </p:cNvPr>
          <p:cNvSpPr/>
          <p:nvPr/>
        </p:nvSpPr>
        <p:spPr>
          <a:xfrm>
            <a:off x="23830627" y="8550521"/>
            <a:ext cx="4834268" cy="2462304"/>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5" name="流程圖: 結束點 4">
            <a:extLst>
              <a:ext uri="{FF2B5EF4-FFF2-40B4-BE49-F238E27FC236}">
                <a16:creationId xmlns:a16="http://schemas.microsoft.com/office/drawing/2014/main" id="{5EE82731-C110-2E61-0479-09A94D53AFBF}"/>
              </a:ext>
            </a:extLst>
          </p:cNvPr>
          <p:cNvSpPr/>
          <p:nvPr/>
        </p:nvSpPr>
        <p:spPr>
          <a:xfrm>
            <a:off x="1847549" y="4528458"/>
            <a:ext cx="4842587" cy="2126039"/>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FD51BD7-3428-3263-C1F3-816E19EDB207}"/>
              </a:ext>
            </a:extLst>
          </p:cNvPr>
          <p:cNvSpPr txBox="1"/>
          <p:nvPr/>
        </p:nvSpPr>
        <p:spPr>
          <a:xfrm>
            <a:off x="2164390" y="5278315"/>
            <a:ext cx="4208900"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設定模型與分析目標</a:t>
            </a:r>
          </a:p>
        </p:txBody>
      </p:sp>
      <p:sp>
        <p:nvSpPr>
          <p:cNvPr id="8" name="流程圖: 準備作業 7">
            <a:extLst>
              <a:ext uri="{FF2B5EF4-FFF2-40B4-BE49-F238E27FC236}">
                <a16:creationId xmlns:a16="http://schemas.microsoft.com/office/drawing/2014/main" id="{3347E91A-7A42-B59E-BD82-646C8883E6E3}"/>
              </a:ext>
            </a:extLst>
          </p:cNvPr>
          <p:cNvSpPr/>
          <p:nvPr/>
        </p:nvSpPr>
        <p:spPr>
          <a:xfrm>
            <a:off x="1847547" y="8147752"/>
            <a:ext cx="4842587" cy="2462304"/>
          </a:xfrm>
          <a:prstGeom prst="flowChartPreparation">
            <a:avLst/>
          </a:prstGeom>
          <a:ln>
            <a:solidFill>
              <a:srgbClr val="CC0099"/>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450CC783-7C36-A7C9-2C60-67149ABCA5D8}"/>
              </a:ext>
            </a:extLst>
          </p:cNvPr>
          <p:cNvSpPr txBox="1"/>
          <p:nvPr/>
        </p:nvSpPr>
        <p:spPr>
          <a:xfrm>
            <a:off x="2726243" y="8798745"/>
            <a:ext cx="3146703"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蒐集需要公式、參數及單位</a:t>
            </a:r>
          </a:p>
        </p:txBody>
      </p:sp>
      <p:sp>
        <p:nvSpPr>
          <p:cNvPr id="10" name="流程圖: 程序 9">
            <a:extLst>
              <a:ext uri="{FF2B5EF4-FFF2-40B4-BE49-F238E27FC236}">
                <a16:creationId xmlns:a16="http://schemas.microsoft.com/office/drawing/2014/main" id="{211B81ED-FAF2-8B65-4E51-1A2BE446C633}"/>
              </a:ext>
            </a:extLst>
          </p:cNvPr>
          <p:cNvSpPr/>
          <p:nvPr/>
        </p:nvSpPr>
        <p:spPr>
          <a:xfrm>
            <a:off x="1847549" y="12280674"/>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65DF2C23-742F-9A30-3EBD-835916E8EE5E}"/>
              </a:ext>
            </a:extLst>
          </p:cNvPr>
          <p:cNvSpPr txBox="1"/>
          <p:nvPr/>
        </p:nvSpPr>
        <p:spPr>
          <a:xfrm>
            <a:off x="2455039" y="12917338"/>
            <a:ext cx="3592179" cy="1180323"/>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撰寫</a:t>
            </a:r>
            <a:r>
              <a:rPr lang="en-US" altLang="zh-TW" sz="3600" dirty="0" err="1">
                <a:latin typeface="Times New Roman" panose="02020603050405020304" pitchFamily="18" charset="0"/>
                <a:cs typeface="Times New Roman" panose="02020603050405020304" pitchFamily="18" charset="0"/>
              </a:rPr>
              <a:t>Stehfest</a:t>
            </a:r>
            <a:r>
              <a:rPr lang="zh-TW" altLang="zh-TW" sz="3470" dirty="0">
                <a:latin typeface="標楷體" panose="03000509000000000000" pitchFamily="65" charset="-120"/>
                <a:ea typeface="標楷體" panose="03000509000000000000" pitchFamily="65" charset="-120"/>
              </a:rPr>
              <a:t>數值反演演算法函</a:t>
            </a:r>
            <a:r>
              <a:rPr lang="zh-TW" altLang="en-US" sz="3470" dirty="0">
                <a:latin typeface="標楷體" panose="03000509000000000000" pitchFamily="65" charset="-120"/>
                <a:ea typeface="標楷體" panose="03000509000000000000" pitchFamily="65" charset="-120"/>
              </a:rPr>
              <a:t>數</a:t>
            </a:r>
            <a:endParaRPr lang="zh-TW" altLang="en-US" sz="3470" dirty="0"/>
          </a:p>
        </p:txBody>
      </p:sp>
      <p:sp>
        <p:nvSpPr>
          <p:cNvPr id="18" name="文字方塊 17">
            <a:extLst>
              <a:ext uri="{FF2B5EF4-FFF2-40B4-BE49-F238E27FC236}">
                <a16:creationId xmlns:a16="http://schemas.microsoft.com/office/drawing/2014/main" id="{0189AEBC-1F88-56CA-2128-D21006589364}"/>
              </a:ext>
            </a:extLst>
          </p:cNvPr>
          <p:cNvSpPr txBox="1"/>
          <p:nvPr/>
        </p:nvSpPr>
        <p:spPr>
          <a:xfrm>
            <a:off x="2447551" y="21418187"/>
            <a:ext cx="3607154"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尋找</a:t>
            </a:r>
            <a:r>
              <a:rPr lang="zh-TW" altLang="en-US" sz="3470" dirty="0">
                <a:latin typeface="標楷體" panose="03000509000000000000" pitchFamily="65" charset="-120"/>
                <a:ea typeface="標楷體" panose="03000509000000000000" pitchFamily="65" charset="-120"/>
              </a:rPr>
              <a:t>使</a:t>
            </a:r>
            <a:r>
              <a:rPr lang="zh-TW" altLang="zh-TW" sz="3470" dirty="0">
                <a:latin typeface="標楷體" panose="03000509000000000000" pitchFamily="65" charset="-120"/>
                <a:ea typeface="標楷體" panose="03000509000000000000" pitchFamily="65" charset="-120"/>
              </a:rPr>
              <a:t>誤差最小的參數</a:t>
            </a:r>
            <a:endParaRPr lang="zh-TW" altLang="en-US" sz="3470" dirty="0"/>
          </a:p>
        </p:txBody>
      </p:sp>
      <p:sp>
        <p:nvSpPr>
          <p:cNvPr id="22" name="文字方塊 21">
            <a:extLst>
              <a:ext uri="{FF2B5EF4-FFF2-40B4-BE49-F238E27FC236}">
                <a16:creationId xmlns:a16="http://schemas.microsoft.com/office/drawing/2014/main" id="{778BBFA9-4C06-E6D2-7FFE-1912EA5F5387}"/>
              </a:ext>
            </a:extLst>
          </p:cNvPr>
          <p:cNvSpPr txBox="1"/>
          <p:nvPr/>
        </p:nvSpPr>
        <p:spPr>
          <a:xfrm>
            <a:off x="3274979" y="26100344"/>
            <a:ext cx="1979662" cy="626325"/>
          </a:xfrm>
          <a:prstGeom prst="rect">
            <a:avLst/>
          </a:prstGeom>
          <a:noFill/>
        </p:spPr>
        <p:txBody>
          <a:bodyPr wrap="square" rtlCol="0">
            <a:spAutoFit/>
          </a:bodyPr>
          <a:lstStyle/>
          <a:p>
            <a:pPr algn="just"/>
            <a:r>
              <a:rPr lang="zh-TW" altLang="en-US" sz="3470" dirty="0">
                <a:latin typeface="標楷體" panose="03000509000000000000" pitchFamily="65" charset="-120"/>
                <a:ea typeface="標楷體" panose="03000509000000000000" pitchFamily="65" charset="-120"/>
              </a:rPr>
              <a:t>誤差評估</a:t>
            </a:r>
            <a:endParaRPr lang="zh-TW" altLang="en-US" sz="3470" dirty="0"/>
          </a:p>
        </p:txBody>
      </p:sp>
      <p:sp>
        <p:nvSpPr>
          <p:cNvPr id="34" name="文字方塊 33">
            <a:extLst>
              <a:ext uri="{FF2B5EF4-FFF2-40B4-BE49-F238E27FC236}">
                <a16:creationId xmlns:a16="http://schemas.microsoft.com/office/drawing/2014/main" id="{A9838788-AAAC-A82C-4903-F6E148C2C2D9}"/>
              </a:ext>
            </a:extLst>
          </p:cNvPr>
          <p:cNvSpPr txBox="1"/>
          <p:nvPr/>
        </p:nvSpPr>
        <p:spPr>
          <a:xfrm>
            <a:off x="24675802" y="5177786"/>
            <a:ext cx="3143917"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建立機器學習資料集</a:t>
            </a:r>
            <a:endParaRPr lang="zh-TW" altLang="en-US" sz="3470" dirty="0">
              <a:latin typeface="標楷體" panose="03000509000000000000" pitchFamily="65" charset="-120"/>
              <a:ea typeface="標楷體" panose="03000509000000000000" pitchFamily="65" charset="-120"/>
            </a:endParaRPr>
          </a:p>
        </p:txBody>
      </p:sp>
      <p:sp>
        <p:nvSpPr>
          <p:cNvPr id="36" name="文字方塊 35">
            <a:extLst>
              <a:ext uri="{FF2B5EF4-FFF2-40B4-BE49-F238E27FC236}">
                <a16:creationId xmlns:a16="http://schemas.microsoft.com/office/drawing/2014/main" id="{2CA45CA9-C8BC-335A-E770-4509DE9179BD}"/>
              </a:ext>
            </a:extLst>
          </p:cNvPr>
          <p:cNvSpPr txBox="1"/>
          <p:nvPr/>
        </p:nvSpPr>
        <p:spPr>
          <a:xfrm>
            <a:off x="25044116" y="9195370"/>
            <a:ext cx="2411319"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訓練</a:t>
            </a:r>
            <a:r>
              <a:rPr lang="en-US" altLang="zh-TW" sz="3470" dirty="0">
                <a:latin typeface="標楷體" panose="03000509000000000000" pitchFamily="65" charset="-120"/>
                <a:ea typeface="標楷體" panose="03000509000000000000" pitchFamily="65" charset="-120"/>
              </a:rPr>
              <a:t>Random Forest</a:t>
            </a:r>
            <a:r>
              <a:rPr lang="zh-TW" altLang="en-US" sz="3470" dirty="0">
                <a:latin typeface="標楷體" panose="03000509000000000000" pitchFamily="65" charset="-120"/>
                <a:ea typeface="標楷體" panose="03000509000000000000" pitchFamily="65" charset="-120"/>
              </a:rPr>
              <a:t>模型</a:t>
            </a:r>
            <a:r>
              <a:rPr lang="en-US" altLang="zh-TW" sz="3470" dirty="0">
                <a:latin typeface="標楷體" panose="03000509000000000000" pitchFamily="65" charset="-120"/>
                <a:ea typeface="標楷體" panose="03000509000000000000" pitchFamily="65" charset="-120"/>
              </a:rPr>
              <a:t> </a:t>
            </a:r>
            <a:endParaRPr lang="zh-TW" altLang="en-US" sz="3470" dirty="0">
              <a:latin typeface="標楷體" panose="03000509000000000000" pitchFamily="65" charset="-120"/>
              <a:ea typeface="標楷體" panose="03000509000000000000" pitchFamily="65" charset="-120"/>
            </a:endParaRPr>
          </a:p>
        </p:txBody>
      </p:sp>
      <p:sp>
        <p:nvSpPr>
          <p:cNvPr id="44" name="文字方塊 43">
            <a:extLst>
              <a:ext uri="{FF2B5EF4-FFF2-40B4-BE49-F238E27FC236}">
                <a16:creationId xmlns:a16="http://schemas.microsoft.com/office/drawing/2014/main" id="{6C454275-0307-CE75-C0AB-8B075419E69D}"/>
              </a:ext>
            </a:extLst>
          </p:cNvPr>
          <p:cNvSpPr txBox="1"/>
          <p:nvPr/>
        </p:nvSpPr>
        <p:spPr>
          <a:xfrm>
            <a:off x="24040747" y="14023555"/>
            <a:ext cx="4386919"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計算預測參數與真實參數的誤差</a:t>
            </a:r>
          </a:p>
        </p:txBody>
      </p:sp>
      <p:sp>
        <p:nvSpPr>
          <p:cNvPr id="48" name="文字方塊 47">
            <a:extLst>
              <a:ext uri="{FF2B5EF4-FFF2-40B4-BE49-F238E27FC236}">
                <a16:creationId xmlns:a16="http://schemas.microsoft.com/office/drawing/2014/main" id="{68E34F35-64D3-207F-E69F-243AE5BEDE34}"/>
              </a:ext>
            </a:extLst>
          </p:cNvPr>
          <p:cNvSpPr txBox="1"/>
          <p:nvPr/>
        </p:nvSpPr>
        <p:spPr>
          <a:xfrm>
            <a:off x="24034681" y="19068268"/>
            <a:ext cx="4392985"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訓練一個條件式</a:t>
            </a:r>
            <a:r>
              <a:rPr lang="en-US" altLang="zh-TW" sz="3470" dirty="0">
                <a:latin typeface="標楷體" panose="03000509000000000000" pitchFamily="65" charset="-120"/>
                <a:ea typeface="標楷體" panose="03000509000000000000" pitchFamily="65" charset="-120"/>
              </a:rPr>
              <a:t>:Flow Matching</a:t>
            </a:r>
            <a:endParaRPr lang="zh-TW" altLang="en-US" sz="3470" dirty="0"/>
          </a:p>
        </p:txBody>
      </p:sp>
      <p:sp>
        <p:nvSpPr>
          <p:cNvPr id="52" name="文字方塊 51">
            <a:extLst>
              <a:ext uri="{FF2B5EF4-FFF2-40B4-BE49-F238E27FC236}">
                <a16:creationId xmlns:a16="http://schemas.microsoft.com/office/drawing/2014/main" id="{D42B8353-D6FA-1FD1-F984-32B2AB45E2D2}"/>
              </a:ext>
            </a:extLst>
          </p:cNvPr>
          <p:cNvSpPr txBox="1"/>
          <p:nvPr/>
        </p:nvSpPr>
        <p:spPr>
          <a:xfrm>
            <a:off x="24458750" y="23650249"/>
            <a:ext cx="3586080"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a:t>
            </a:r>
            <a:endParaRPr lang="zh-TW" altLang="en-US" sz="3470" dirty="0"/>
          </a:p>
        </p:txBody>
      </p:sp>
      <p:sp>
        <p:nvSpPr>
          <p:cNvPr id="54" name="文字方塊 53">
            <a:extLst>
              <a:ext uri="{FF2B5EF4-FFF2-40B4-BE49-F238E27FC236}">
                <a16:creationId xmlns:a16="http://schemas.microsoft.com/office/drawing/2014/main" id="{8FF557DD-5F22-D1BF-E409-45A2CF820D00}"/>
              </a:ext>
            </a:extLst>
          </p:cNvPr>
          <p:cNvSpPr txBox="1"/>
          <p:nvPr/>
        </p:nvSpPr>
        <p:spPr>
          <a:xfrm>
            <a:off x="24347995" y="28122767"/>
            <a:ext cx="3807593" cy="626325"/>
          </a:xfrm>
          <a:prstGeom prst="rect">
            <a:avLst/>
          </a:prstGeom>
          <a:noFill/>
        </p:spPr>
        <p:txBody>
          <a:bodyPr wrap="square" rtlCol="0">
            <a:spAutoFit/>
          </a:bodyPr>
          <a:lstStyle/>
          <a:p>
            <a:pPr algn="ctr"/>
            <a:r>
              <a:rPr lang="en-US" altLang="zh-TW" sz="3470" dirty="0">
                <a:latin typeface="標楷體" panose="03000509000000000000" pitchFamily="65" charset="-120"/>
                <a:ea typeface="標楷體" panose="03000509000000000000" pitchFamily="65" charset="-120"/>
              </a:rPr>
              <a:t>ODE </a:t>
            </a:r>
            <a:r>
              <a:rPr lang="zh-TW" altLang="zh-TW" sz="3470" dirty="0">
                <a:latin typeface="標楷體" panose="03000509000000000000" pitchFamily="65" charset="-120"/>
                <a:ea typeface="標楷體" panose="03000509000000000000" pitchFamily="65" charset="-120"/>
              </a:rPr>
              <a:t>數值積分推演</a:t>
            </a:r>
            <a:endParaRPr lang="zh-TW" altLang="en-US" sz="3470" dirty="0"/>
          </a:p>
        </p:txBody>
      </p:sp>
      <p:sp>
        <p:nvSpPr>
          <p:cNvPr id="61" name="流程圖: 結束點 60">
            <a:extLst>
              <a:ext uri="{FF2B5EF4-FFF2-40B4-BE49-F238E27FC236}">
                <a16:creationId xmlns:a16="http://schemas.microsoft.com/office/drawing/2014/main" id="{427DCB7E-F060-83AA-81A8-45C4230A2E86}"/>
              </a:ext>
            </a:extLst>
          </p:cNvPr>
          <p:cNvSpPr/>
          <p:nvPr/>
        </p:nvSpPr>
        <p:spPr>
          <a:xfrm>
            <a:off x="23834659" y="32175942"/>
            <a:ext cx="4834266" cy="2462304"/>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3" name="文字方塊 62">
            <a:extLst>
              <a:ext uri="{FF2B5EF4-FFF2-40B4-BE49-F238E27FC236}">
                <a16:creationId xmlns:a16="http://schemas.microsoft.com/office/drawing/2014/main" id="{5FF0235E-DE4E-D8FF-C044-648C16F98B37}"/>
              </a:ext>
            </a:extLst>
          </p:cNvPr>
          <p:cNvSpPr txBox="1"/>
          <p:nvPr/>
        </p:nvSpPr>
        <p:spPr>
          <a:xfrm>
            <a:off x="24633961" y="33153738"/>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結論</a:t>
            </a:r>
          </a:p>
        </p:txBody>
      </p:sp>
      <p:cxnSp>
        <p:nvCxnSpPr>
          <p:cNvPr id="117" name="直線單箭頭接點 116">
            <a:extLst>
              <a:ext uri="{FF2B5EF4-FFF2-40B4-BE49-F238E27FC236}">
                <a16:creationId xmlns:a16="http://schemas.microsoft.com/office/drawing/2014/main" id="{9949D002-A6E3-8F72-863B-2BE53355DD24}"/>
              </a:ext>
            </a:extLst>
          </p:cNvPr>
          <p:cNvCxnSpPr>
            <a:cxnSpLocks/>
            <a:stCxn id="5" idx="2"/>
            <a:endCxn id="8" idx="0"/>
          </p:cNvCxnSpPr>
          <p:nvPr/>
        </p:nvCxnSpPr>
        <p:spPr>
          <a:xfrm flipH="1">
            <a:off x="4268841" y="6654497"/>
            <a:ext cx="2" cy="14932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FC000A2-AB88-9924-E0CD-3DD862D2D535}"/>
              </a:ext>
            </a:extLst>
          </p:cNvPr>
          <p:cNvCxnSpPr>
            <a:cxnSpLocks/>
            <a:stCxn id="23" idx="2"/>
            <a:endCxn id="62" idx="0"/>
          </p:cNvCxnSpPr>
          <p:nvPr/>
        </p:nvCxnSpPr>
        <p:spPr>
          <a:xfrm>
            <a:off x="4268841" y="23229498"/>
            <a:ext cx="0" cy="195285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a:extLst>
              <a:ext uri="{FF2B5EF4-FFF2-40B4-BE49-F238E27FC236}">
                <a16:creationId xmlns:a16="http://schemas.microsoft.com/office/drawing/2014/main" id="{B6AAB7FC-508D-4C63-FA13-4BB62A126717}"/>
              </a:ext>
            </a:extLst>
          </p:cNvPr>
          <p:cNvCxnSpPr>
            <a:cxnSpLocks/>
            <a:stCxn id="79" idx="2"/>
            <a:endCxn id="2" idx="0"/>
          </p:cNvCxnSpPr>
          <p:nvPr/>
        </p:nvCxnSpPr>
        <p:spPr>
          <a:xfrm flipH="1">
            <a:off x="26247761" y="6990762"/>
            <a:ext cx="4160" cy="15597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a:extLst>
              <a:ext uri="{FF2B5EF4-FFF2-40B4-BE49-F238E27FC236}">
                <a16:creationId xmlns:a16="http://schemas.microsoft.com/office/drawing/2014/main" id="{7A718DAC-90F7-730F-69F1-24E10CF8E6EE}"/>
              </a:ext>
            </a:extLst>
          </p:cNvPr>
          <p:cNvCxnSpPr>
            <a:cxnSpLocks/>
            <a:stCxn id="106" idx="2"/>
            <a:endCxn id="6" idx="0"/>
          </p:cNvCxnSpPr>
          <p:nvPr/>
        </p:nvCxnSpPr>
        <p:spPr>
          <a:xfrm>
            <a:off x="26251790" y="15936674"/>
            <a:ext cx="1" cy="236821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a:extLst>
              <a:ext uri="{FF2B5EF4-FFF2-40B4-BE49-F238E27FC236}">
                <a16:creationId xmlns:a16="http://schemas.microsoft.com/office/drawing/2014/main" id="{1AFE3EFA-2F3B-20AA-FCB2-C4E71F5323D0}"/>
              </a:ext>
            </a:extLst>
          </p:cNvPr>
          <p:cNvCxnSpPr>
            <a:cxnSpLocks/>
            <a:stCxn id="111" idx="4"/>
            <a:endCxn id="112" idx="0"/>
          </p:cNvCxnSpPr>
          <p:nvPr/>
        </p:nvCxnSpPr>
        <p:spPr>
          <a:xfrm>
            <a:off x="26251791" y="25461559"/>
            <a:ext cx="0" cy="17432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7" name="直線單箭頭接點 146">
            <a:extLst>
              <a:ext uri="{FF2B5EF4-FFF2-40B4-BE49-F238E27FC236}">
                <a16:creationId xmlns:a16="http://schemas.microsoft.com/office/drawing/2014/main" id="{AC4394EF-797C-FA3E-F310-9423057ECCF7}"/>
              </a:ext>
            </a:extLst>
          </p:cNvPr>
          <p:cNvCxnSpPr>
            <a:cxnSpLocks/>
            <a:stCxn id="112" idx="2"/>
            <a:endCxn id="61" idx="0"/>
          </p:cNvCxnSpPr>
          <p:nvPr/>
        </p:nvCxnSpPr>
        <p:spPr>
          <a:xfrm>
            <a:off x="26251791" y="29667081"/>
            <a:ext cx="1" cy="250886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61170C9F-036D-8275-DD48-6C006B19E478}"/>
              </a:ext>
            </a:extLst>
          </p:cNvPr>
          <p:cNvCxnSpPr>
            <a:cxnSpLocks/>
            <a:stCxn id="6" idx="2"/>
            <a:endCxn id="111" idx="1"/>
          </p:cNvCxnSpPr>
          <p:nvPr/>
        </p:nvCxnSpPr>
        <p:spPr>
          <a:xfrm>
            <a:off x="26251791" y="20767194"/>
            <a:ext cx="0" cy="223206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a:extLst>
              <a:ext uri="{FF2B5EF4-FFF2-40B4-BE49-F238E27FC236}">
                <a16:creationId xmlns:a16="http://schemas.microsoft.com/office/drawing/2014/main" id="{83E1132F-103F-5F66-8F1B-D4F7D832D81C}"/>
              </a:ext>
            </a:extLst>
          </p:cNvPr>
          <p:cNvCxnSpPr>
            <a:cxnSpLocks/>
            <a:stCxn id="2" idx="2"/>
            <a:endCxn id="106" idx="0"/>
          </p:cNvCxnSpPr>
          <p:nvPr/>
        </p:nvCxnSpPr>
        <p:spPr>
          <a:xfrm>
            <a:off x="26247761" y="11012825"/>
            <a:ext cx="4029" cy="246154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0" name="直線單箭頭接點 169">
            <a:extLst>
              <a:ext uri="{FF2B5EF4-FFF2-40B4-BE49-F238E27FC236}">
                <a16:creationId xmlns:a16="http://schemas.microsoft.com/office/drawing/2014/main" id="{B28D9D16-79B2-C298-241D-ECD3FFF1EB76}"/>
              </a:ext>
            </a:extLst>
          </p:cNvPr>
          <p:cNvCxnSpPr>
            <a:cxnSpLocks/>
            <a:stCxn id="8" idx="2"/>
            <a:endCxn id="10" idx="0"/>
          </p:cNvCxnSpPr>
          <p:nvPr/>
        </p:nvCxnSpPr>
        <p:spPr>
          <a:xfrm>
            <a:off x="4268841" y="10610056"/>
            <a:ext cx="2" cy="16706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74">
            <a:extLst>
              <a:ext uri="{FF2B5EF4-FFF2-40B4-BE49-F238E27FC236}">
                <a16:creationId xmlns:a16="http://schemas.microsoft.com/office/drawing/2014/main" id="{A0A3EB10-AD56-FCF4-30CC-12BC9038CD6F}"/>
              </a:ext>
            </a:extLst>
          </p:cNvPr>
          <p:cNvCxnSpPr>
            <a:cxnSpLocks/>
            <a:stCxn id="10" idx="2"/>
            <a:endCxn id="200" idx="0"/>
          </p:cNvCxnSpPr>
          <p:nvPr/>
        </p:nvCxnSpPr>
        <p:spPr>
          <a:xfrm flipH="1">
            <a:off x="4268841" y="14742978"/>
            <a:ext cx="2" cy="16706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94" name="接點: 肘形 193">
            <a:extLst>
              <a:ext uri="{FF2B5EF4-FFF2-40B4-BE49-F238E27FC236}">
                <a16:creationId xmlns:a16="http://schemas.microsoft.com/office/drawing/2014/main" id="{78490ADA-37E6-175B-AF4B-16EAA0AA4B78}"/>
              </a:ext>
            </a:extLst>
          </p:cNvPr>
          <p:cNvCxnSpPr>
            <a:cxnSpLocks/>
            <a:stCxn id="62" idx="3"/>
            <a:endCxn id="79" idx="1"/>
          </p:cNvCxnSpPr>
          <p:nvPr/>
        </p:nvCxnSpPr>
        <p:spPr>
          <a:xfrm flipV="1">
            <a:off x="6690134" y="5759610"/>
            <a:ext cx="17140493" cy="20653897"/>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0" name="流程圖: 程序 199">
            <a:extLst>
              <a:ext uri="{FF2B5EF4-FFF2-40B4-BE49-F238E27FC236}">
                <a16:creationId xmlns:a16="http://schemas.microsoft.com/office/drawing/2014/main" id="{B008399C-6CE4-5801-980E-B98F37617F37}"/>
              </a:ext>
            </a:extLst>
          </p:cNvPr>
          <p:cNvSpPr/>
          <p:nvPr/>
        </p:nvSpPr>
        <p:spPr>
          <a:xfrm>
            <a:off x="1847547" y="16413596"/>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99" name="文字方塊 198">
            <a:extLst>
              <a:ext uri="{FF2B5EF4-FFF2-40B4-BE49-F238E27FC236}">
                <a16:creationId xmlns:a16="http://schemas.microsoft.com/office/drawing/2014/main" id="{52E993B4-4424-EFAA-832D-122F841EA0A9}"/>
              </a:ext>
            </a:extLst>
          </p:cNvPr>
          <p:cNvSpPr txBox="1"/>
          <p:nvPr/>
        </p:nvSpPr>
        <p:spPr>
          <a:xfrm>
            <a:off x="2357171" y="17331585"/>
            <a:ext cx="3823338" cy="626325"/>
          </a:xfrm>
          <a:prstGeom prst="rect">
            <a:avLst/>
          </a:prstGeom>
          <a:noFill/>
        </p:spPr>
        <p:txBody>
          <a:bodyPr wrap="square" rtlCol="0">
            <a:spAutoFit/>
          </a:bodyPr>
          <a:lstStyle/>
          <a:p>
            <a:r>
              <a:rPr lang="zh-TW" altLang="zh-TW" sz="3470" dirty="0">
                <a:latin typeface="標楷體" panose="03000509000000000000" pitchFamily="65" charset="-120"/>
                <a:ea typeface="標楷體" panose="03000509000000000000" pitchFamily="65" charset="-120"/>
              </a:rPr>
              <a:t>加入隨機誤差指標</a:t>
            </a:r>
            <a:endParaRPr lang="zh-TW" altLang="en-US" sz="3470" dirty="0">
              <a:latin typeface="標楷體" panose="03000509000000000000" pitchFamily="65" charset="-120"/>
              <a:ea typeface="標楷體" panose="03000509000000000000" pitchFamily="65" charset="-120"/>
            </a:endParaRPr>
          </a:p>
        </p:txBody>
      </p:sp>
      <p:cxnSp>
        <p:nvCxnSpPr>
          <p:cNvPr id="213" name="直線單箭頭接點 212">
            <a:extLst>
              <a:ext uri="{FF2B5EF4-FFF2-40B4-BE49-F238E27FC236}">
                <a16:creationId xmlns:a16="http://schemas.microsoft.com/office/drawing/2014/main" id="{37CD9998-5745-C795-26A9-2C0D49F89E08}"/>
              </a:ext>
            </a:extLst>
          </p:cNvPr>
          <p:cNvCxnSpPr>
            <a:cxnSpLocks/>
            <a:stCxn id="200" idx="2"/>
            <a:endCxn id="23" idx="0"/>
          </p:cNvCxnSpPr>
          <p:nvPr/>
        </p:nvCxnSpPr>
        <p:spPr>
          <a:xfrm>
            <a:off x="4268841" y="18875900"/>
            <a:ext cx="0" cy="189129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4" name="文字方塊 3">
            <a:extLst>
              <a:ext uri="{FF2B5EF4-FFF2-40B4-BE49-F238E27FC236}">
                <a16:creationId xmlns:a16="http://schemas.microsoft.com/office/drawing/2014/main" id="{B2FFA2C6-B034-5603-18F2-08F1D74B8924}"/>
              </a:ext>
            </a:extLst>
          </p:cNvPr>
          <p:cNvSpPr txBox="1"/>
          <p:nvPr/>
        </p:nvSpPr>
        <p:spPr>
          <a:xfrm>
            <a:off x="7006977" y="4723782"/>
            <a:ext cx="8863782" cy="1323439"/>
          </a:xfrm>
          <a:prstGeom prst="rect">
            <a:avLst/>
          </a:prstGeom>
          <a:noFill/>
        </p:spPr>
        <p:txBody>
          <a:bodyPr wrap="square" rtlCol="0">
            <a:spAutoFit/>
          </a:bodyPr>
          <a:lstStyle/>
          <a:p>
            <a:r>
              <a:rPr lang="zh-TW" altLang="en-US" sz="4000" dirty="0"/>
              <a:t>任務</a:t>
            </a:r>
            <a:r>
              <a:rPr lang="en-US" altLang="zh-TW" sz="4000" dirty="0"/>
              <a:t>~</a:t>
            </a:r>
            <a:r>
              <a:rPr lang="zh-TW" altLang="en-US" sz="4000" dirty="0"/>
              <a:t>任務三蒐集之資料與結果</a:t>
            </a:r>
            <a:endParaRPr lang="en-US" altLang="zh-TW" sz="4000" dirty="0"/>
          </a:p>
          <a:p>
            <a:r>
              <a:rPr lang="en-US" altLang="zh-TW" sz="4000" dirty="0">
                <a:hlinkClick r:id="rId2"/>
              </a:rPr>
              <a:t>https://canva.link/gqx07u933d9hg1x</a:t>
            </a:r>
            <a:endParaRPr lang="zh-TW" altLang="en-US" sz="4000" dirty="0"/>
          </a:p>
        </p:txBody>
      </p:sp>
      <p:sp>
        <p:nvSpPr>
          <p:cNvPr id="12" name="文字方塊 11">
            <a:extLst>
              <a:ext uri="{FF2B5EF4-FFF2-40B4-BE49-F238E27FC236}">
                <a16:creationId xmlns:a16="http://schemas.microsoft.com/office/drawing/2014/main" id="{CD3301C5-EE49-36FE-CC17-48A09F463470}"/>
              </a:ext>
            </a:extLst>
          </p:cNvPr>
          <p:cNvSpPr txBox="1"/>
          <p:nvPr/>
        </p:nvSpPr>
        <p:spPr>
          <a:xfrm>
            <a:off x="6932570" y="21437210"/>
            <a:ext cx="16645418" cy="19174480"/>
          </a:xfrm>
          <a:prstGeom prst="rect">
            <a:avLst/>
          </a:prstGeom>
          <a:noFill/>
        </p:spPr>
        <p:txBody>
          <a:bodyPr wrap="square" rtlCol="0">
            <a:spAutoFit/>
          </a:bodyPr>
          <a:lstStyle/>
          <a:p>
            <a:r>
              <a:rPr lang="zh-TW" altLang="en-US" sz="4000" dirty="0"/>
              <a:t>任務四參採之數據</a:t>
            </a:r>
            <a:endParaRPr lang="en-US" altLang="zh-TW" sz="4000" dirty="0"/>
          </a:p>
          <a:p>
            <a:r>
              <a:rPr lang="zh-TW" altLang="en-US" sz="4000" dirty="0"/>
              <a:t>抽水試驗數據</a:t>
            </a:r>
          </a:p>
          <a:p>
            <a:r>
              <a:rPr lang="zh-TW" altLang="en-US" sz="4000" dirty="0"/>
              <a:t>抽水井水位降深：「當前水位深度」與「試驗前靜止水位」之間的差值</a:t>
            </a:r>
          </a:p>
          <a:p>
            <a:r>
              <a:rPr lang="zh-TW" altLang="en-US" sz="4000" dirty="0"/>
              <a:t>試驗前靜止水位：從地表量到水面的距離</a:t>
            </a:r>
          </a:p>
          <a:p>
            <a:br>
              <a:rPr lang="zh-TW" altLang="en-US" sz="4000" dirty="0"/>
            </a:br>
            <a:endParaRPr lang="zh-TW" altLang="en-US" sz="4000" dirty="0"/>
          </a:p>
          <a:p>
            <a:r>
              <a:rPr lang="en-US" altLang="zh-TW" sz="4000" dirty="0"/>
              <a:t>1. </a:t>
            </a:r>
            <a:r>
              <a:rPr lang="zh-TW" altLang="en-US" sz="4000" dirty="0"/>
              <a:t>愛達荷州 </a:t>
            </a:r>
            <a:r>
              <a:rPr lang="en-US" altLang="zh-TW" sz="4000" dirty="0"/>
              <a:t>2024/5/29</a:t>
            </a:r>
            <a:endParaRPr lang="zh-TW" altLang="en-US" sz="4000" dirty="0"/>
          </a:p>
          <a:p>
            <a:r>
              <a:rPr lang="zh-TW" altLang="en-US" sz="4000" dirty="0"/>
              <a:t>試驗前靜止水位（從地表量到水面的距離）</a:t>
            </a:r>
            <a:r>
              <a:rPr lang="en-US" altLang="zh-TW" sz="4000" dirty="0"/>
              <a:t>: 119.21m</a:t>
            </a:r>
            <a:endParaRPr lang="zh-TW" altLang="en-US" sz="4000" dirty="0"/>
          </a:p>
          <a:p>
            <a:r>
              <a:rPr lang="en-US" altLang="zh-TW" sz="4000" dirty="0"/>
              <a:t>NRF-18 test2</a:t>
            </a:r>
            <a:endParaRPr lang="zh-TW" altLang="en-US" sz="4000" b="1" dirty="0"/>
          </a:p>
          <a:p>
            <a:r>
              <a:rPr lang="en-US" altLang="zh-TW" sz="4000" u="sng" dirty="0">
                <a:hlinkClick r:id="rId3"/>
              </a:rPr>
              <a:t>https://www.usgs.gov/data/multiple-well-aquifer-test-data-boreholes-nrf-17-and-nrf-18-idaho-national-laboratory-idaho</a:t>
            </a:r>
            <a:endParaRPr lang="zh-TW" altLang="en-US" sz="4000" dirty="0"/>
          </a:p>
          <a:p>
            <a:br>
              <a:rPr lang="zh-TW" altLang="en-US" sz="4000" dirty="0"/>
            </a:br>
            <a:endParaRPr lang="zh-TW" altLang="en-US" sz="4000" dirty="0"/>
          </a:p>
          <a:p>
            <a:r>
              <a:rPr lang="en-US" altLang="zh-TW" sz="4000" dirty="0"/>
              <a:t>2. </a:t>
            </a:r>
            <a:r>
              <a:rPr lang="zh-TW" altLang="en-US" sz="4000" dirty="0"/>
              <a:t>賓州阿姆布里奇</a:t>
            </a:r>
            <a:r>
              <a:rPr lang="en-US" altLang="zh-TW" sz="4000" dirty="0"/>
              <a:t>1949/11/10</a:t>
            </a:r>
            <a:endParaRPr lang="zh-TW" altLang="en-US" sz="4000" dirty="0"/>
          </a:p>
          <a:p>
            <a:r>
              <a:rPr lang="zh-TW" altLang="en-US" sz="4000" dirty="0"/>
              <a:t>兩井相距</a:t>
            </a:r>
            <a:r>
              <a:rPr lang="en-US" altLang="zh-TW" sz="4000" dirty="0"/>
              <a:t>60.96m</a:t>
            </a:r>
            <a:endParaRPr lang="zh-TW" altLang="en-US" sz="4000" dirty="0"/>
          </a:p>
          <a:p>
            <a:r>
              <a:rPr lang="en-US" altLang="zh-TW" sz="4000" u="sng" dirty="0">
                <a:hlinkClick r:id="rId4"/>
              </a:rPr>
              <a:t>https://www.usgs.gov/publications/memorandum-pumping-test-ambridge-pennsylvania</a:t>
            </a:r>
            <a:endParaRPr lang="zh-TW" altLang="en-US" sz="4000" dirty="0"/>
          </a:p>
          <a:p>
            <a:br>
              <a:rPr lang="zh-TW" altLang="en-US" sz="4000" dirty="0"/>
            </a:br>
            <a:endParaRPr lang="zh-TW" altLang="en-US" sz="4000" dirty="0"/>
          </a:p>
          <a:p>
            <a:r>
              <a:rPr lang="en-US" altLang="zh-TW" sz="4000" dirty="0"/>
              <a:t>3. </a:t>
            </a:r>
            <a:r>
              <a:rPr lang="zh-TW" altLang="en-US" sz="4000" dirty="0"/>
              <a:t>華盛頓州普爾曼市</a:t>
            </a:r>
            <a:r>
              <a:rPr lang="en-US" altLang="zh-TW" sz="4000" dirty="0"/>
              <a:t>1957/7/15</a:t>
            </a:r>
            <a:endParaRPr lang="zh-TW" altLang="en-US" sz="4000" dirty="0"/>
          </a:p>
          <a:p>
            <a:r>
              <a:rPr lang="en-US" altLang="zh-TW" sz="4000" u="sng" dirty="0">
                <a:hlinkClick r:id="rId5"/>
              </a:rPr>
              <a:t>https://www.usgs.gov/publications/results-pumping-test-city-well-four-pullman-washington</a:t>
            </a:r>
            <a:endParaRPr lang="zh-TW" altLang="en-US" sz="4000" dirty="0"/>
          </a:p>
          <a:p>
            <a:br>
              <a:rPr lang="zh-TW" altLang="en-US" sz="4000" dirty="0"/>
            </a:br>
            <a:endParaRPr lang="zh-TW" altLang="en-US" sz="4000" dirty="0"/>
          </a:p>
          <a:p>
            <a:r>
              <a:rPr lang="en-US" altLang="zh-TW" sz="4000" dirty="0"/>
              <a:t>4. </a:t>
            </a:r>
            <a:r>
              <a:rPr lang="zh-TW" altLang="en-US" sz="4000" dirty="0"/>
              <a:t>肯塔基州梅菲爾德</a:t>
            </a:r>
            <a:r>
              <a:rPr lang="en-US" altLang="zh-TW" sz="4000" dirty="0"/>
              <a:t>1960/3</a:t>
            </a:r>
            <a:endParaRPr lang="zh-TW" altLang="en-US" sz="4000" b="1" dirty="0"/>
          </a:p>
          <a:p>
            <a:r>
              <a:rPr lang="en-US" altLang="zh-TW" sz="4000" u="sng" dirty="0">
                <a:hlinkClick r:id="rId6"/>
              </a:rPr>
              <a:t>https://www.usgs.gov/publications/pumping-test-eocene-aquifer-near-mayfield-kentucky</a:t>
            </a:r>
            <a:endParaRPr lang="zh-TW" altLang="en-US" sz="4000" dirty="0"/>
          </a:p>
          <a:p>
            <a:br>
              <a:rPr lang="zh-TW" altLang="en-US" sz="4000" dirty="0"/>
            </a:br>
            <a:r>
              <a:rPr lang="en-US" altLang="zh-TW" sz="4000" dirty="0"/>
              <a:t>5.</a:t>
            </a:r>
            <a:r>
              <a:rPr lang="zh-TW" altLang="en-US" sz="4000" dirty="0"/>
              <a:t>論文採集數據集</a:t>
            </a:r>
            <a:endParaRPr lang="en-US" altLang="zh-TW" sz="4000" dirty="0"/>
          </a:p>
          <a:p>
            <a:r>
              <a:rPr lang="en-US" altLang="zh-TW" sz="4000" dirty="0">
                <a:hlinkClick r:id="rId7" action="ppaction://hlinkfile"/>
              </a:rPr>
              <a:t>https://drive.google.com/file/d/1_LfzlaLdU8vWrI-CXOZ9vnoIWCWbRYyW/view?usp=drive_link</a:t>
            </a:r>
            <a:endParaRPr lang="zh-TW" altLang="en-US" sz="4000" dirty="0"/>
          </a:p>
        </p:txBody>
      </p:sp>
    </p:spTree>
    <p:extLst>
      <p:ext uri="{BB962C8B-B14F-4D97-AF65-F5344CB8AC3E}">
        <p14:creationId xmlns:p14="http://schemas.microsoft.com/office/powerpoint/2010/main" val="33788960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E9A15-6E66-87BD-A4D3-D00CCF79C6B8}"/>
            </a:ext>
          </a:extLst>
        </p:cNvPr>
        <p:cNvGrpSpPr/>
        <p:nvPr/>
      </p:nvGrpSpPr>
      <p:grpSpPr>
        <a:xfrm>
          <a:off x="0" y="0"/>
          <a:ext cx="0" cy="0"/>
          <a:chOff x="0" y="0"/>
          <a:chExt cx="0" cy="0"/>
        </a:xfrm>
      </p:grpSpPr>
      <p:sp>
        <p:nvSpPr>
          <p:cNvPr id="6" name="流程圖: 預設程序 5">
            <a:extLst>
              <a:ext uri="{FF2B5EF4-FFF2-40B4-BE49-F238E27FC236}">
                <a16:creationId xmlns:a16="http://schemas.microsoft.com/office/drawing/2014/main" id="{E3A333F7-A938-E637-8A55-E01111ACFDE8}"/>
              </a:ext>
            </a:extLst>
          </p:cNvPr>
          <p:cNvSpPr/>
          <p:nvPr/>
        </p:nvSpPr>
        <p:spPr>
          <a:xfrm>
            <a:off x="23834657" y="18304891"/>
            <a:ext cx="4834267" cy="2462303"/>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12" name="流程圖: 程序 111">
            <a:extLst>
              <a:ext uri="{FF2B5EF4-FFF2-40B4-BE49-F238E27FC236}">
                <a16:creationId xmlns:a16="http://schemas.microsoft.com/office/drawing/2014/main" id="{7246B506-CF00-0E29-5E66-EE3639E6236D}"/>
              </a:ext>
            </a:extLst>
          </p:cNvPr>
          <p:cNvSpPr/>
          <p:nvPr/>
        </p:nvSpPr>
        <p:spPr>
          <a:xfrm>
            <a:off x="23834657" y="27204778"/>
            <a:ext cx="4834267"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1" name="流程圖: 資料 110">
            <a:extLst>
              <a:ext uri="{FF2B5EF4-FFF2-40B4-BE49-F238E27FC236}">
                <a16:creationId xmlns:a16="http://schemas.microsoft.com/office/drawing/2014/main" id="{B905886A-BEE6-CEEB-EA8B-E2B88F2829C4}"/>
              </a:ext>
            </a:extLst>
          </p:cNvPr>
          <p:cNvSpPr/>
          <p:nvPr/>
        </p:nvSpPr>
        <p:spPr>
          <a:xfrm>
            <a:off x="23834658" y="22999256"/>
            <a:ext cx="4834266" cy="2462303"/>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6" name="流程圖: 程序 105">
            <a:extLst>
              <a:ext uri="{FF2B5EF4-FFF2-40B4-BE49-F238E27FC236}">
                <a16:creationId xmlns:a16="http://schemas.microsoft.com/office/drawing/2014/main" id="{A33BC209-7A30-EF37-6008-66DB2B3AD79A}"/>
              </a:ext>
            </a:extLst>
          </p:cNvPr>
          <p:cNvSpPr/>
          <p:nvPr/>
        </p:nvSpPr>
        <p:spPr>
          <a:xfrm>
            <a:off x="23834656" y="13474371"/>
            <a:ext cx="483426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79" name="流程圖: 程序 78">
            <a:extLst>
              <a:ext uri="{FF2B5EF4-FFF2-40B4-BE49-F238E27FC236}">
                <a16:creationId xmlns:a16="http://schemas.microsoft.com/office/drawing/2014/main" id="{572CD236-E4F4-6581-6530-FE72F3C875D6}"/>
              </a:ext>
            </a:extLst>
          </p:cNvPr>
          <p:cNvSpPr/>
          <p:nvPr/>
        </p:nvSpPr>
        <p:spPr>
          <a:xfrm>
            <a:off x="23830627" y="4528458"/>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62" name="流程圖: 程序 61">
            <a:extLst>
              <a:ext uri="{FF2B5EF4-FFF2-40B4-BE49-F238E27FC236}">
                <a16:creationId xmlns:a16="http://schemas.microsoft.com/office/drawing/2014/main" id="{A4C3C4AE-0B55-25ED-7592-F41C606BF7D4}"/>
              </a:ext>
            </a:extLst>
          </p:cNvPr>
          <p:cNvSpPr/>
          <p:nvPr/>
        </p:nvSpPr>
        <p:spPr>
          <a:xfrm>
            <a:off x="13483989" y="25182355"/>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3" name="流程圖: 程序 22">
            <a:extLst>
              <a:ext uri="{FF2B5EF4-FFF2-40B4-BE49-F238E27FC236}">
                <a16:creationId xmlns:a16="http://schemas.microsoft.com/office/drawing/2014/main" id="{A053A2CC-36B6-F8E3-6755-2E4CE265E94B}"/>
              </a:ext>
            </a:extLst>
          </p:cNvPr>
          <p:cNvSpPr/>
          <p:nvPr/>
        </p:nvSpPr>
        <p:spPr>
          <a:xfrm>
            <a:off x="13483989" y="20767194"/>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 name="流程圖: 預設程序 1">
            <a:extLst>
              <a:ext uri="{FF2B5EF4-FFF2-40B4-BE49-F238E27FC236}">
                <a16:creationId xmlns:a16="http://schemas.microsoft.com/office/drawing/2014/main" id="{7B45A8DD-FC15-4CB0-10F7-F0B9925FA7C2}"/>
              </a:ext>
            </a:extLst>
          </p:cNvPr>
          <p:cNvSpPr/>
          <p:nvPr/>
        </p:nvSpPr>
        <p:spPr>
          <a:xfrm>
            <a:off x="23830627" y="8550521"/>
            <a:ext cx="4834268" cy="2462304"/>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5" name="流程圖: 結束點 4">
            <a:extLst>
              <a:ext uri="{FF2B5EF4-FFF2-40B4-BE49-F238E27FC236}">
                <a16:creationId xmlns:a16="http://schemas.microsoft.com/office/drawing/2014/main" id="{58143795-8D1D-5077-3AAB-6FD9899876AF}"/>
              </a:ext>
            </a:extLst>
          </p:cNvPr>
          <p:cNvSpPr/>
          <p:nvPr/>
        </p:nvSpPr>
        <p:spPr>
          <a:xfrm>
            <a:off x="13483991" y="4528458"/>
            <a:ext cx="4842587" cy="2126039"/>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D771E0B-2A2C-5063-A4D2-A8D5467B59B6}"/>
              </a:ext>
            </a:extLst>
          </p:cNvPr>
          <p:cNvSpPr txBox="1"/>
          <p:nvPr/>
        </p:nvSpPr>
        <p:spPr>
          <a:xfrm>
            <a:off x="13800832" y="5278315"/>
            <a:ext cx="4208900"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設定模型與分析目標</a:t>
            </a:r>
          </a:p>
        </p:txBody>
      </p:sp>
      <p:sp>
        <p:nvSpPr>
          <p:cNvPr id="8" name="流程圖: 準備作業 7">
            <a:extLst>
              <a:ext uri="{FF2B5EF4-FFF2-40B4-BE49-F238E27FC236}">
                <a16:creationId xmlns:a16="http://schemas.microsoft.com/office/drawing/2014/main" id="{F1A584F4-EE40-35E6-D1B9-704AD3640109}"/>
              </a:ext>
            </a:extLst>
          </p:cNvPr>
          <p:cNvSpPr/>
          <p:nvPr/>
        </p:nvSpPr>
        <p:spPr>
          <a:xfrm>
            <a:off x="13483989" y="8147752"/>
            <a:ext cx="4842587" cy="2462304"/>
          </a:xfrm>
          <a:prstGeom prst="flowChartPreparation">
            <a:avLst/>
          </a:prstGeom>
          <a:ln>
            <a:solidFill>
              <a:srgbClr val="CC0099"/>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18AF2C4D-F66E-E745-876A-FACA24C23476}"/>
              </a:ext>
            </a:extLst>
          </p:cNvPr>
          <p:cNvSpPr txBox="1"/>
          <p:nvPr/>
        </p:nvSpPr>
        <p:spPr>
          <a:xfrm>
            <a:off x="14362685" y="8798745"/>
            <a:ext cx="3146703"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蒐集需要公式、參數及單位</a:t>
            </a:r>
          </a:p>
        </p:txBody>
      </p:sp>
      <p:sp>
        <p:nvSpPr>
          <p:cNvPr id="10" name="流程圖: 程序 9">
            <a:extLst>
              <a:ext uri="{FF2B5EF4-FFF2-40B4-BE49-F238E27FC236}">
                <a16:creationId xmlns:a16="http://schemas.microsoft.com/office/drawing/2014/main" id="{A2A0B16D-78AC-C490-A2D6-5EB4A8EA9D0D}"/>
              </a:ext>
            </a:extLst>
          </p:cNvPr>
          <p:cNvSpPr/>
          <p:nvPr/>
        </p:nvSpPr>
        <p:spPr>
          <a:xfrm>
            <a:off x="13483991" y="12280674"/>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2A055752-EF07-CBC3-5A11-1337DF76D581}"/>
              </a:ext>
            </a:extLst>
          </p:cNvPr>
          <p:cNvSpPr txBox="1"/>
          <p:nvPr/>
        </p:nvSpPr>
        <p:spPr>
          <a:xfrm>
            <a:off x="14091481" y="12917338"/>
            <a:ext cx="3592179" cy="646331"/>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撰寫</a:t>
            </a:r>
            <a:r>
              <a:rPr lang="en-US" altLang="zh-TW" sz="3600" dirty="0" err="1">
                <a:latin typeface="Times New Roman" panose="02020603050405020304" pitchFamily="18" charset="0"/>
                <a:cs typeface="Times New Roman" panose="02020603050405020304" pitchFamily="18" charset="0"/>
              </a:rPr>
              <a:t>Stehfes</a:t>
            </a:r>
            <a:r>
              <a:rPr lang="zh-TW" altLang="zh-TW" sz="3470" dirty="0">
                <a:latin typeface="標楷體" panose="03000509000000000000" pitchFamily="65" charset="-120"/>
                <a:ea typeface="標楷體" panose="03000509000000000000" pitchFamily="65" charset="-120"/>
              </a:rPr>
              <a:t>函</a:t>
            </a:r>
            <a:r>
              <a:rPr lang="zh-TW" altLang="en-US" sz="3470" dirty="0">
                <a:latin typeface="標楷體" panose="03000509000000000000" pitchFamily="65" charset="-120"/>
                <a:ea typeface="標楷體" panose="03000509000000000000" pitchFamily="65" charset="-120"/>
              </a:rPr>
              <a:t>數</a:t>
            </a:r>
            <a:endParaRPr lang="zh-TW" altLang="en-US" sz="3470" dirty="0"/>
          </a:p>
        </p:txBody>
      </p:sp>
      <p:sp>
        <p:nvSpPr>
          <p:cNvPr id="18" name="文字方塊 17">
            <a:extLst>
              <a:ext uri="{FF2B5EF4-FFF2-40B4-BE49-F238E27FC236}">
                <a16:creationId xmlns:a16="http://schemas.microsoft.com/office/drawing/2014/main" id="{7633D927-98B9-3995-CC75-8BDADB5C3285}"/>
              </a:ext>
            </a:extLst>
          </p:cNvPr>
          <p:cNvSpPr txBox="1"/>
          <p:nvPr/>
        </p:nvSpPr>
        <p:spPr>
          <a:xfrm>
            <a:off x="14083993" y="21418187"/>
            <a:ext cx="3607154"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尋找</a:t>
            </a:r>
            <a:r>
              <a:rPr lang="zh-TW" altLang="en-US" sz="3470" dirty="0">
                <a:latin typeface="標楷體" panose="03000509000000000000" pitchFamily="65" charset="-120"/>
                <a:ea typeface="標楷體" panose="03000509000000000000" pitchFamily="65" charset="-120"/>
              </a:rPr>
              <a:t>使</a:t>
            </a:r>
            <a:r>
              <a:rPr lang="zh-TW" altLang="zh-TW" sz="3470" dirty="0">
                <a:latin typeface="標楷體" panose="03000509000000000000" pitchFamily="65" charset="-120"/>
                <a:ea typeface="標楷體" panose="03000509000000000000" pitchFamily="65" charset="-120"/>
              </a:rPr>
              <a:t>誤差最小的參數</a:t>
            </a:r>
            <a:endParaRPr lang="zh-TW" altLang="en-US" sz="3470" dirty="0"/>
          </a:p>
        </p:txBody>
      </p:sp>
      <p:sp>
        <p:nvSpPr>
          <p:cNvPr id="22" name="文字方塊 21">
            <a:extLst>
              <a:ext uri="{FF2B5EF4-FFF2-40B4-BE49-F238E27FC236}">
                <a16:creationId xmlns:a16="http://schemas.microsoft.com/office/drawing/2014/main" id="{4C4FED1F-6DC4-2B16-CD60-CCC9658ACAA5}"/>
              </a:ext>
            </a:extLst>
          </p:cNvPr>
          <p:cNvSpPr txBox="1"/>
          <p:nvPr/>
        </p:nvSpPr>
        <p:spPr>
          <a:xfrm>
            <a:off x="14911421" y="26100344"/>
            <a:ext cx="1979662" cy="626325"/>
          </a:xfrm>
          <a:prstGeom prst="rect">
            <a:avLst/>
          </a:prstGeom>
          <a:noFill/>
        </p:spPr>
        <p:txBody>
          <a:bodyPr wrap="square" rtlCol="0">
            <a:spAutoFit/>
          </a:bodyPr>
          <a:lstStyle/>
          <a:p>
            <a:pPr algn="just"/>
            <a:r>
              <a:rPr lang="zh-TW" altLang="en-US" sz="3470" dirty="0">
                <a:latin typeface="標楷體" panose="03000509000000000000" pitchFamily="65" charset="-120"/>
                <a:ea typeface="標楷體" panose="03000509000000000000" pitchFamily="65" charset="-120"/>
              </a:rPr>
              <a:t>誤差評估</a:t>
            </a:r>
            <a:endParaRPr lang="zh-TW" altLang="en-US" sz="3470" dirty="0"/>
          </a:p>
        </p:txBody>
      </p:sp>
      <p:sp>
        <p:nvSpPr>
          <p:cNvPr id="34" name="文字方塊 33">
            <a:extLst>
              <a:ext uri="{FF2B5EF4-FFF2-40B4-BE49-F238E27FC236}">
                <a16:creationId xmlns:a16="http://schemas.microsoft.com/office/drawing/2014/main" id="{4149F9AB-380D-4CDF-7ED5-44C603A2A537}"/>
              </a:ext>
            </a:extLst>
          </p:cNvPr>
          <p:cNvSpPr txBox="1"/>
          <p:nvPr/>
        </p:nvSpPr>
        <p:spPr>
          <a:xfrm>
            <a:off x="24675802" y="5177786"/>
            <a:ext cx="3143917"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建立機器學習資料集</a:t>
            </a:r>
            <a:endParaRPr lang="zh-TW" altLang="en-US" sz="3470" dirty="0">
              <a:latin typeface="標楷體" panose="03000509000000000000" pitchFamily="65" charset="-120"/>
              <a:ea typeface="標楷體" panose="03000509000000000000" pitchFamily="65" charset="-120"/>
            </a:endParaRPr>
          </a:p>
        </p:txBody>
      </p:sp>
      <p:sp>
        <p:nvSpPr>
          <p:cNvPr id="36" name="文字方塊 35">
            <a:extLst>
              <a:ext uri="{FF2B5EF4-FFF2-40B4-BE49-F238E27FC236}">
                <a16:creationId xmlns:a16="http://schemas.microsoft.com/office/drawing/2014/main" id="{FA3028D5-5289-6893-6A3E-FE88CBE2536C}"/>
              </a:ext>
            </a:extLst>
          </p:cNvPr>
          <p:cNvSpPr txBox="1"/>
          <p:nvPr/>
        </p:nvSpPr>
        <p:spPr>
          <a:xfrm>
            <a:off x="25044116" y="9195370"/>
            <a:ext cx="2411319"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訓練</a:t>
            </a:r>
            <a:r>
              <a:rPr lang="en-US" altLang="zh-TW" sz="3470" dirty="0">
                <a:latin typeface="標楷體" panose="03000509000000000000" pitchFamily="65" charset="-120"/>
                <a:ea typeface="標楷體" panose="03000509000000000000" pitchFamily="65" charset="-120"/>
              </a:rPr>
              <a:t>Random Forest</a:t>
            </a:r>
            <a:r>
              <a:rPr lang="zh-TW" altLang="en-US" sz="3470" dirty="0">
                <a:latin typeface="標楷體" panose="03000509000000000000" pitchFamily="65" charset="-120"/>
                <a:ea typeface="標楷體" panose="03000509000000000000" pitchFamily="65" charset="-120"/>
              </a:rPr>
              <a:t>模型</a:t>
            </a:r>
            <a:r>
              <a:rPr lang="en-US" altLang="zh-TW" sz="3470" dirty="0">
                <a:latin typeface="標楷體" panose="03000509000000000000" pitchFamily="65" charset="-120"/>
                <a:ea typeface="標楷體" panose="03000509000000000000" pitchFamily="65" charset="-120"/>
              </a:rPr>
              <a:t> </a:t>
            </a:r>
            <a:endParaRPr lang="zh-TW" altLang="en-US" sz="3470" dirty="0">
              <a:latin typeface="標楷體" panose="03000509000000000000" pitchFamily="65" charset="-120"/>
              <a:ea typeface="標楷體" panose="03000509000000000000" pitchFamily="65" charset="-120"/>
            </a:endParaRPr>
          </a:p>
        </p:txBody>
      </p:sp>
      <p:sp>
        <p:nvSpPr>
          <p:cNvPr id="44" name="文字方塊 43">
            <a:extLst>
              <a:ext uri="{FF2B5EF4-FFF2-40B4-BE49-F238E27FC236}">
                <a16:creationId xmlns:a16="http://schemas.microsoft.com/office/drawing/2014/main" id="{7F6C2AB0-4758-E304-FADE-8946140DCF4B}"/>
              </a:ext>
            </a:extLst>
          </p:cNvPr>
          <p:cNvSpPr txBox="1"/>
          <p:nvPr/>
        </p:nvSpPr>
        <p:spPr>
          <a:xfrm>
            <a:off x="24040747" y="14023555"/>
            <a:ext cx="4386919"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計算預測參數與真實參數的誤差</a:t>
            </a:r>
          </a:p>
        </p:txBody>
      </p:sp>
      <p:sp>
        <p:nvSpPr>
          <p:cNvPr id="48" name="文字方塊 47">
            <a:extLst>
              <a:ext uri="{FF2B5EF4-FFF2-40B4-BE49-F238E27FC236}">
                <a16:creationId xmlns:a16="http://schemas.microsoft.com/office/drawing/2014/main" id="{50587B2D-9F0C-DEF2-5288-17E77134BA00}"/>
              </a:ext>
            </a:extLst>
          </p:cNvPr>
          <p:cNvSpPr txBox="1"/>
          <p:nvPr/>
        </p:nvSpPr>
        <p:spPr>
          <a:xfrm>
            <a:off x="24034681" y="19068268"/>
            <a:ext cx="4392985"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訓練一個條件式</a:t>
            </a:r>
            <a:r>
              <a:rPr lang="en-US" altLang="zh-TW" sz="3470" dirty="0">
                <a:latin typeface="標楷體" panose="03000509000000000000" pitchFamily="65" charset="-120"/>
                <a:ea typeface="標楷體" panose="03000509000000000000" pitchFamily="65" charset="-120"/>
              </a:rPr>
              <a:t>:Flow Matching</a:t>
            </a:r>
            <a:endParaRPr lang="zh-TW" altLang="en-US" sz="3470" dirty="0"/>
          </a:p>
        </p:txBody>
      </p:sp>
      <p:sp>
        <p:nvSpPr>
          <p:cNvPr id="52" name="文字方塊 51">
            <a:extLst>
              <a:ext uri="{FF2B5EF4-FFF2-40B4-BE49-F238E27FC236}">
                <a16:creationId xmlns:a16="http://schemas.microsoft.com/office/drawing/2014/main" id="{80392674-51D0-A045-3610-AEE3ECE621FC}"/>
              </a:ext>
            </a:extLst>
          </p:cNvPr>
          <p:cNvSpPr txBox="1"/>
          <p:nvPr/>
        </p:nvSpPr>
        <p:spPr>
          <a:xfrm>
            <a:off x="24458750" y="23650249"/>
            <a:ext cx="3586080"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a:t>
            </a:r>
            <a:endParaRPr lang="zh-TW" altLang="en-US" sz="3470" dirty="0"/>
          </a:p>
        </p:txBody>
      </p:sp>
      <p:sp>
        <p:nvSpPr>
          <p:cNvPr id="54" name="文字方塊 53">
            <a:extLst>
              <a:ext uri="{FF2B5EF4-FFF2-40B4-BE49-F238E27FC236}">
                <a16:creationId xmlns:a16="http://schemas.microsoft.com/office/drawing/2014/main" id="{3B054A4D-ED4E-4C9B-91DF-DB48B483D681}"/>
              </a:ext>
            </a:extLst>
          </p:cNvPr>
          <p:cNvSpPr txBox="1"/>
          <p:nvPr/>
        </p:nvSpPr>
        <p:spPr>
          <a:xfrm>
            <a:off x="24347995" y="28122767"/>
            <a:ext cx="3807593" cy="626325"/>
          </a:xfrm>
          <a:prstGeom prst="rect">
            <a:avLst/>
          </a:prstGeom>
          <a:noFill/>
        </p:spPr>
        <p:txBody>
          <a:bodyPr wrap="square" rtlCol="0">
            <a:spAutoFit/>
          </a:bodyPr>
          <a:lstStyle/>
          <a:p>
            <a:pPr algn="ctr"/>
            <a:r>
              <a:rPr lang="en-US" altLang="zh-TW" sz="3470" dirty="0">
                <a:latin typeface="標楷體" panose="03000509000000000000" pitchFamily="65" charset="-120"/>
                <a:ea typeface="標楷體" panose="03000509000000000000" pitchFamily="65" charset="-120"/>
              </a:rPr>
              <a:t>ODE </a:t>
            </a:r>
            <a:r>
              <a:rPr lang="zh-TW" altLang="zh-TW" sz="3470" dirty="0">
                <a:latin typeface="標楷體" panose="03000509000000000000" pitchFamily="65" charset="-120"/>
                <a:ea typeface="標楷體" panose="03000509000000000000" pitchFamily="65" charset="-120"/>
              </a:rPr>
              <a:t>數值積分推演</a:t>
            </a:r>
            <a:endParaRPr lang="zh-TW" altLang="en-US" sz="3470" dirty="0"/>
          </a:p>
        </p:txBody>
      </p:sp>
      <p:sp>
        <p:nvSpPr>
          <p:cNvPr id="61" name="流程圖: 結束點 60">
            <a:extLst>
              <a:ext uri="{FF2B5EF4-FFF2-40B4-BE49-F238E27FC236}">
                <a16:creationId xmlns:a16="http://schemas.microsoft.com/office/drawing/2014/main" id="{3D659202-216E-2F23-78B4-BE72EFF516FF}"/>
              </a:ext>
            </a:extLst>
          </p:cNvPr>
          <p:cNvSpPr/>
          <p:nvPr/>
        </p:nvSpPr>
        <p:spPr>
          <a:xfrm>
            <a:off x="23834659" y="32175942"/>
            <a:ext cx="4834266" cy="2462304"/>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3" name="文字方塊 62">
            <a:extLst>
              <a:ext uri="{FF2B5EF4-FFF2-40B4-BE49-F238E27FC236}">
                <a16:creationId xmlns:a16="http://schemas.microsoft.com/office/drawing/2014/main" id="{5E3031E3-86C3-1893-E885-19807116D4CC}"/>
              </a:ext>
            </a:extLst>
          </p:cNvPr>
          <p:cNvSpPr txBox="1"/>
          <p:nvPr/>
        </p:nvSpPr>
        <p:spPr>
          <a:xfrm>
            <a:off x="24633961" y="33153738"/>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結論</a:t>
            </a:r>
          </a:p>
        </p:txBody>
      </p:sp>
      <p:cxnSp>
        <p:nvCxnSpPr>
          <p:cNvPr id="117" name="直線單箭頭接點 116">
            <a:extLst>
              <a:ext uri="{FF2B5EF4-FFF2-40B4-BE49-F238E27FC236}">
                <a16:creationId xmlns:a16="http://schemas.microsoft.com/office/drawing/2014/main" id="{1BDAA624-CAEC-DA2E-99F6-ED99C66CBF01}"/>
              </a:ext>
            </a:extLst>
          </p:cNvPr>
          <p:cNvCxnSpPr>
            <a:cxnSpLocks/>
            <a:stCxn id="5" idx="2"/>
            <a:endCxn id="8" idx="0"/>
          </p:cNvCxnSpPr>
          <p:nvPr/>
        </p:nvCxnSpPr>
        <p:spPr>
          <a:xfrm flipH="1">
            <a:off x="15905283" y="6654497"/>
            <a:ext cx="2" cy="14932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F30D53D3-0807-7BF8-2B06-D9D8B5AABC68}"/>
              </a:ext>
            </a:extLst>
          </p:cNvPr>
          <p:cNvCxnSpPr>
            <a:cxnSpLocks/>
            <a:stCxn id="23" idx="2"/>
            <a:endCxn id="62" idx="0"/>
          </p:cNvCxnSpPr>
          <p:nvPr/>
        </p:nvCxnSpPr>
        <p:spPr>
          <a:xfrm>
            <a:off x="15905283" y="23229498"/>
            <a:ext cx="0" cy="195285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a:extLst>
              <a:ext uri="{FF2B5EF4-FFF2-40B4-BE49-F238E27FC236}">
                <a16:creationId xmlns:a16="http://schemas.microsoft.com/office/drawing/2014/main" id="{0B533B9A-D9C4-42E9-1944-7E13B24CE755}"/>
              </a:ext>
            </a:extLst>
          </p:cNvPr>
          <p:cNvCxnSpPr>
            <a:cxnSpLocks/>
            <a:stCxn id="79" idx="2"/>
            <a:endCxn id="2" idx="0"/>
          </p:cNvCxnSpPr>
          <p:nvPr/>
        </p:nvCxnSpPr>
        <p:spPr>
          <a:xfrm flipH="1">
            <a:off x="26247761" y="6990762"/>
            <a:ext cx="4160" cy="15597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a:extLst>
              <a:ext uri="{FF2B5EF4-FFF2-40B4-BE49-F238E27FC236}">
                <a16:creationId xmlns:a16="http://schemas.microsoft.com/office/drawing/2014/main" id="{CD935FF8-AB2F-391E-96D4-DFC8F07F2D2D}"/>
              </a:ext>
            </a:extLst>
          </p:cNvPr>
          <p:cNvCxnSpPr>
            <a:cxnSpLocks/>
            <a:stCxn id="106" idx="2"/>
            <a:endCxn id="6" idx="0"/>
          </p:cNvCxnSpPr>
          <p:nvPr/>
        </p:nvCxnSpPr>
        <p:spPr>
          <a:xfrm>
            <a:off x="26251790" y="15936674"/>
            <a:ext cx="1" cy="236821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a:extLst>
              <a:ext uri="{FF2B5EF4-FFF2-40B4-BE49-F238E27FC236}">
                <a16:creationId xmlns:a16="http://schemas.microsoft.com/office/drawing/2014/main" id="{D51890CE-D107-8AA6-05A9-731E81504436}"/>
              </a:ext>
            </a:extLst>
          </p:cNvPr>
          <p:cNvCxnSpPr>
            <a:cxnSpLocks/>
            <a:stCxn id="111" idx="4"/>
            <a:endCxn id="112" idx="0"/>
          </p:cNvCxnSpPr>
          <p:nvPr/>
        </p:nvCxnSpPr>
        <p:spPr>
          <a:xfrm>
            <a:off x="26251791" y="25461559"/>
            <a:ext cx="0" cy="174321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7" name="直線單箭頭接點 146">
            <a:extLst>
              <a:ext uri="{FF2B5EF4-FFF2-40B4-BE49-F238E27FC236}">
                <a16:creationId xmlns:a16="http://schemas.microsoft.com/office/drawing/2014/main" id="{E68F83B7-DBB8-E4C0-FE96-E7C5F5F222C5}"/>
              </a:ext>
            </a:extLst>
          </p:cNvPr>
          <p:cNvCxnSpPr>
            <a:cxnSpLocks/>
            <a:stCxn id="112" idx="2"/>
            <a:endCxn id="61" idx="0"/>
          </p:cNvCxnSpPr>
          <p:nvPr/>
        </p:nvCxnSpPr>
        <p:spPr>
          <a:xfrm>
            <a:off x="26251791" y="29667081"/>
            <a:ext cx="1" cy="250886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92" name="直線單箭頭接點 91">
            <a:extLst>
              <a:ext uri="{FF2B5EF4-FFF2-40B4-BE49-F238E27FC236}">
                <a16:creationId xmlns:a16="http://schemas.microsoft.com/office/drawing/2014/main" id="{2AEFDA28-6761-E389-EC82-8AF85BBECCCE}"/>
              </a:ext>
            </a:extLst>
          </p:cNvPr>
          <p:cNvCxnSpPr>
            <a:cxnSpLocks/>
            <a:stCxn id="6" idx="2"/>
            <a:endCxn id="111" idx="1"/>
          </p:cNvCxnSpPr>
          <p:nvPr/>
        </p:nvCxnSpPr>
        <p:spPr>
          <a:xfrm>
            <a:off x="26251791" y="20767194"/>
            <a:ext cx="0" cy="223206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1">
            <a:extLst>
              <a:ext uri="{FF2B5EF4-FFF2-40B4-BE49-F238E27FC236}">
                <a16:creationId xmlns:a16="http://schemas.microsoft.com/office/drawing/2014/main" id="{0189D320-6E9C-FA9A-08D1-F4CF5EDB5705}"/>
              </a:ext>
            </a:extLst>
          </p:cNvPr>
          <p:cNvCxnSpPr>
            <a:cxnSpLocks/>
            <a:stCxn id="2" idx="2"/>
            <a:endCxn id="106" idx="0"/>
          </p:cNvCxnSpPr>
          <p:nvPr/>
        </p:nvCxnSpPr>
        <p:spPr>
          <a:xfrm>
            <a:off x="26247761" y="11012825"/>
            <a:ext cx="4029" cy="246154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0" name="直線單箭頭接點 169">
            <a:extLst>
              <a:ext uri="{FF2B5EF4-FFF2-40B4-BE49-F238E27FC236}">
                <a16:creationId xmlns:a16="http://schemas.microsoft.com/office/drawing/2014/main" id="{57DA1F82-988B-CBF0-3E58-2D9F46E31EB8}"/>
              </a:ext>
            </a:extLst>
          </p:cNvPr>
          <p:cNvCxnSpPr>
            <a:cxnSpLocks/>
            <a:stCxn id="8" idx="2"/>
            <a:endCxn id="10" idx="0"/>
          </p:cNvCxnSpPr>
          <p:nvPr/>
        </p:nvCxnSpPr>
        <p:spPr>
          <a:xfrm>
            <a:off x="15905283" y="10610056"/>
            <a:ext cx="2" cy="16706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5" name="直線單箭頭接點 174">
            <a:extLst>
              <a:ext uri="{FF2B5EF4-FFF2-40B4-BE49-F238E27FC236}">
                <a16:creationId xmlns:a16="http://schemas.microsoft.com/office/drawing/2014/main" id="{7F7E5BD7-1167-55EF-94E3-450ADCE61A10}"/>
              </a:ext>
            </a:extLst>
          </p:cNvPr>
          <p:cNvCxnSpPr>
            <a:cxnSpLocks/>
            <a:stCxn id="10" idx="2"/>
            <a:endCxn id="200" idx="0"/>
          </p:cNvCxnSpPr>
          <p:nvPr/>
        </p:nvCxnSpPr>
        <p:spPr>
          <a:xfrm flipH="1">
            <a:off x="15905283" y="14742978"/>
            <a:ext cx="2" cy="167061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94" name="接點: 肘形 193">
            <a:extLst>
              <a:ext uri="{FF2B5EF4-FFF2-40B4-BE49-F238E27FC236}">
                <a16:creationId xmlns:a16="http://schemas.microsoft.com/office/drawing/2014/main" id="{71F3292A-88D7-E199-05FB-32FF8D23E7B6}"/>
              </a:ext>
            </a:extLst>
          </p:cNvPr>
          <p:cNvCxnSpPr>
            <a:cxnSpLocks/>
            <a:stCxn id="62" idx="3"/>
            <a:endCxn id="79" idx="1"/>
          </p:cNvCxnSpPr>
          <p:nvPr/>
        </p:nvCxnSpPr>
        <p:spPr>
          <a:xfrm flipV="1">
            <a:off x="18326576" y="5759610"/>
            <a:ext cx="5504051" cy="20653897"/>
          </a:xfrm>
          <a:prstGeom prst="bentConnector3">
            <a:avLst>
              <a:gd name="adj1" fmla="val 50000"/>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0" name="流程圖: 程序 199">
            <a:extLst>
              <a:ext uri="{FF2B5EF4-FFF2-40B4-BE49-F238E27FC236}">
                <a16:creationId xmlns:a16="http://schemas.microsoft.com/office/drawing/2014/main" id="{CC5B3B5C-6F02-DCD5-4ECC-FD42BD29E9E5}"/>
              </a:ext>
            </a:extLst>
          </p:cNvPr>
          <p:cNvSpPr/>
          <p:nvPr/>
        </p:nvSpPr>
        <p:spPr>
          <a:xfrm>
            <a:off x="13483989" y="16413596"/>
            <a:ext cx="4842587" cy="2462304"/>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99" name="文字方塊 198">
            <a:extLst>
              <a:ext uri="{FF2B5EF4-FFF2-40B4-BE49-F238E27FC236}">
                <a16:creationId xmlns:a16="http://schemas.microsoft.com/office/drawing/2014/main" id="{491DAB78-A48E-2803-59D6-013BA7F08719}"/>
              </a:ext>
            </a:extLst>
          </p:cNvPr>
          <p:cNvSpPr txBox="1"/>
          <p:nvPr/>
        </p:nvSpPr>
        <p:spPr>
          <a:xfrm>
            <a:off x="13993613" y="17331585"/>
            <a:ext cx="3823338" cy="626325"/>
          </a:xfrm>
          <a:prstGeom prst="rect">
            <a:avLst/>
          </a:prstGeom>
          <a:noFill/>
        </p:spPr>
        <p:txBody>
          <a:bodyPr wrap="square" rtlCol="0">
            <a:spAutoFit/>
          </a:bodyPr>
          <a:lstStyle/>
          <a:p>
            <a:r>
              <a:rPr lang="zh-TW" altLang="zh-TW" sz="3470" dirty="0">
                <a:latin typeface="標楷體" panose="03000509000000000000" pitchFamily="65" charset="-120"/>
                <a:ea typeface="標楷體" panose="03000509000000000000" pitchFamily="65" charset="-120"/>
              </a:rPr>
              <a:t>加入隨機誤差指標</a:t>
            </a:r>
            <a:endParaRPr lang="zh-TW" altLang="en-US" sz="3470" dirty="0">
              <a:latin typeface="標楷體" panose="03000509000000000000" pitchFamily="65" charset="-120"/>
              <a:ea typeface="標楷體" panose="03000509000000000000" pitchFamily="65" charset="-120"/>
            </a:endParaRPr>
          </a:p>
        </p:txBody>
      </p:sp>
      <p:cxnSp>
        <p:nvCxnSpPr>
          <p:cNvPr id="213" name="直線單箭頭接點 212">
            <a:extLst>
              <a:ext uri="{FF2B5EF4-FFF2-40B4-BE49-F238E27FC236}">
                <a16:creationId xmlns:a16="http://schemas.microsoft.com/office/drawing/2014/main" id="{26398FC8-8260-9EE1-4175-5820B0607DFD}"/>
              </a:ext>
            </a:extLst>
          </p:cNvPr>
          <p:cNvCxnSpPr>
            <a:cxnSpLocks/>
            <a:stCxn id="200" idx="2"/>
            <a:endCxn id="23" idx="0"/>
          </p:cNvCxnSpPr>
          <p:nvPr/>
        </p:nvCxnSpPr>
        <p:spPr>
          <a:xfrm>
            <a:off x="15905283" y="18875900"/>
            <a:ext cx="0" cy="189129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0A572D5C-C730-C65C-E6AE-7403C6E9BD41}"/>
              </a:ext>
            </a:extLst>
          </p:cNvPr>
          <p:cNvSpPr txBox="1"/>
          <p:nvPr/>
        </p:nvSpPr>
        <p:spPr>
          <a:xfrm>
            <a:off x="2288152" y="5667323"/>
            <a:ext cx="8863782" cy="1323439"/>
          </a:xfrm>
          <a:prstGeom prst="rect">
            <a:avLst/>
          </a:prstGeom>
          <a:noFill/>
        </p:spPr>
        <p:txBody>
          <a:bodyPr wrap="square" rtlCol="0">
            <a:spAutoFit/>
          </a:bodyPr>
          <a:lstStyle/>
          <a:p>
            <a:r>
              <a:rPr lang="zh-TW" altLang="en-US" sz="4000" dirty="0"/>
              <a:t>任務</a:t>
            </a:r>
            <a:r>
              <a:rPr lang="en-US" altLang="zh-TW" sz="4000" dirty="0"/>
              <a:t>~</a:t>
            </a:r>
            <a:r>
              <a:rPr lang="zh-TW" altLang="en-US" sz="4000" dirty="0"/>
              <a:t>任務三蒐集之資料與結果</a:t>
            </a:r>
            <a:endParaRPr lang="en-US" altLang="zh-TW" sz="4000" dirty="0"/>
          </a:p>
          <a:p>
            <a:r>
              <a:rPr lang="en-US" altLang="zh-TW" sz="4000" dirty="0"/>
              <a:t>https://canva.link/gqx07u933d9hg1x</a:t>
            </a:r>
            <a:endParaRPr lang="zh-TW" altLang="en-US" sz="4000" dirty="0"/>
          </a:p>
        </p:txBody>
      </p:sp>
      <p:sp>
        <p:nvSpPr>
          <p:cNvPr id="13" name="文字方塊 12">
            <a:extLst>
              <a:ext uri="{FF2B5EF4-FFF2-40B4-BE49-F238E27FC236}">
                <a16:creationId xmlns:a16="http://schemas.microsoft.com/office/drawing/2014/main" id="{F61B564B-C868-5307-85AA-A587D431A204}"/>
              </a:ext>
            </a:extLst>
          </p:cNvPr>
          <p:cNvSpPr txBox="1"/>
          <p:nvPr/>
        </p:nvSpPr>
        <p:spPr>
          <a:xfrm>
            <a:off x="4930096" y="22672883"/>
            <a:ext cx="14941954" cy="19174480"/>
          </a:xfrm>
          <a:prstGeom prst="rect">
            <a:avLst/>
          </a:prstGeom>
          <a:noFill/>
        </p:spPr>
        <p:txBody>
          <a:bodyPr wrap="square" rtlCol="0">
            <a:spAutoFit/>
          </a:bodyPr>
          <a:lstStyle/>
          <a:p>
            <a:r>
              <a:rPr lang="zh-TW" altLang="en-US" sz="4000" dirty="0"/>
              <a:t>抽水試驗數據</a:t>
            </a:r>
          </a:p>
          <a:p>
            <a:r>
              <a:rPr lang="zh-TW" altLang="en-US" sz="4000" dirty="0"/>
              <a:t>抽水井水位降深：「當前水位深度」與「試驗前靜止水位」之間的差值</a:t>
            </a:r>
          </a:p>
          <a:p>
            <a:r>
              <a:rPr lang="zh-TW" altLang="en-US" sz="4000" dirty="0"/>
              <a:t>試驗前靜止水位：從地表量到水面的距離</a:t>
            </a:r>
          </a:p>
          <a:p>
            <a:br>
              <a:rPr lang="zh-TW" altLang="en-US" sz="4000" dirty="0"/>
            </a:br>
            <a:endParaRPr lang="zh-TW" altLang="en-US" sz="4000" dirty="0"/>
          </a:p>
          <a:p>
            <a:r>
              <a:rPr lang="en-US" altLang="zh-TW" sz="4000" dirty="0"/>
              <a:t>1. </a:t>
            </a:r>
            <a:r>
              <a:rPr lang="zh-TW" altLang="en-US" sz="4000" dirty="0"/>
              <a:t>愛達荷州 </a:t>
            </a:r>
            <a:r>
              <a:rPr lang="en-US" altLang="zh-TW" sz="4000" dirty="0"/>
              <a:t>2024/5/29</a:t>
            </a:r>
            <a:endParaRPr lang="zh-TW" altLang="en-US" sz="4000" dirty="0"/>
          </a:p>
          <a:p>
            <a:r>
              <a:rPr lang="zh-TW" altLang="en-US" sz="4000" dirty="0"/>
              <a:t>試驗前靜止水位（從地表量到水面的距離）</a:t>
            </a:r>
            <a:r>
              <a:rPr lang="en-US" altLang="zh-TW" sz="4000" dirty="0"/>
              <a:t>: 119.21m</a:t>
            </a:r>
            <a:endParaRPr lang="zh-TW" altLang="en-US" sz="4000" dirty="0"/>
          </a:p>
          <a:p>
            <a:r>
              <a:rPr lang="en-US" altLang="zh-TW" sz="4000" dirty="0"/>
              <a:t>NRF-18 test2</a:t>
            </a:r>
            <a:endParaRPr lang="zh-TW" altLang="en-US" sz="4000" b="1" dirty="0"/>
          </a:p>
          <a:p>
            <a:r>
              <a:rPr lang="en-US" altLang="zh-TW" sz="4000" u="sng" dirty="0">
                <a:hlinkClick r:id="rId2"/>
              </a:rPr>
              <a:t>https://www.usgs.gov/data/multiple-well-aquifer-test-data-boreholes-nrf-17-and-nrf-18-idaho-national-laboratory-idaho</a:t>
            </a:r>
            <a:endParaRPr lang="zh-TW" altLang="en-US" sz="4000" dirty="0"/>
          </a:p>
          <a:p>
            <a:br>
              <a:rPr lang="zh-TW" altLang="en-US" sz="4000" dirty="0"/>
            </a:br>
            <a:endParaRPr lang="zh-TW" altLang="en-US" sz="4000" dirty="0"/>
          </a:p>
          <a:p>
            <a:r>
              <a:rPr lang="en-US" altLang="zh-TW" sz="4000" dirty="0"/>
              <a:t>2. </a:t>
            </a:r>
            <a:r>
              <a:rPr lang="zh-TW" altLang="en-US" sz="4000" dirty="0"/>
              <a:t>賓州阿姆布里奇</a:t>
            </a:r>
            <a:r>
              <a:rPr lang="en-US" altLang="zh-TW" sz="4000" dirty="0"/>
              <a:t>1949/11/10</a:t>
            </a:r>
            <a:endParaRPr lang="zh-TW" altLang="en-US" sz="4000" dirty="0"/>
          </a:p>
          <a:p>
            <a:r>
              <a:rPr lang="zh-TW" altLang="en-US" sz="4000" dirty="0"/>
              <a:t>兩井相距</a:t>
            </a:r>
            <a:r>
              <a:rPr lang="en-US" altLang="zh-TW" sz="4000" dirty="0"/>
              <a:t>60.96m</a:t>
            </a:r>
            <a:endParaRPr lang="zh-TW" altLang="en-US" sz="4000" dirty="0"/>
          </a:p>
          <a:p>
            <a:r>
              <a:rPr lang="en-US" altLang="zh-TW" sz="4000" u="sng" dirty="0">
                <a:hlinkClick r:id="rId3"/>
              </a:rPr>
              <a:t>https://www.usgs.gov/publications/memorandum-pumping-test-ambridge-pennsylvania</a:t>
            </a:r>
            <a:endParaRPr lang="zh-TW" altLang="en-US" sz="4000" dirty="0"/>
          </a:p>
          <a:p>
            <a:br>
              <a:rPr lang="zh-TW" altLang="en-US" sz="4000" dirty="0"/>
            </a:br>
            <a:endParaRPr lang="zh-TW" altLang="en-US" sz="4000" dirty="0"/>
          </a:p>
          <a:p>
            <a:r>
              <a:rPr lang="en-US" altLang="zh-TW" sz="4000" dirty="0"/>
              <a:t>3. </a:t>
            </a:r>
            <a:r>
              <a:rPr lang="zh-TW" altLang="en-US" sz="4000" dirty="0"/>
              <a:t>華盛頓州普爾曼市</a:t>
            </a:r>
            <a:r>
              <a:rPr lang="en-US" altLang="zh-TW" sz="4000" dirty="0"/>
              <a:t>1957/7/15</a:t>
            </a:r>
            <a:endParaRPr lang="zh-TW" altLang="en-US" sz="4000" dirty="0"/>
          </a:p>
          <a:p>
            <a:r>
              <a:rPr lang="en-US" altLang="zh-TW" sz="4000" u="sng" dirty="0">
                <a:hlinkClick r:id="rId4"/>
              </a:rPr>
              <a:t>https://www.usgs.gov/publications/results-pumping-test-city-well-four-pullman-washington</a:t>
            </a:r>
            <a:endParaRPr lang="zh-TW" altLang="en-US" sz="4000" dirty="0"/>
          </a:p>
          <a:p>
            <a:br>
              <a:rPr lang="zh-TW" altLang="en-US" sz="4000" dirty="0"/>
            </a:br>
            <a:endParaRPr lang="zh-TW" altLang="en-US" sz="4000" dirty="0"/>
          </a:p>
          <a:p>
            <a:r>
              <a:rPr lang="en-US" altLang="zh-TW" sz="4000" dirty="0"/>
              <a:t>4. </a:t>
            </a:r>
            <a:r>
              <a:rPr lang="zh-TW" altLang="en-US" sz="4000" dirty="0"/>
              <a:t>肯塔基州梅菲爾德</a:t>
            </a:r>
            <a:r>
              <a:rPr lang="en-US" altLang="zh-TW" sz="4000" dirty="0"/>
              <a:t>1960/3</a:t>
            </a:r>
            <a:endParaRPr lang="zh-TW" altLang="en-US" sz="4000" b="1" dirty="0"/>
          </a:p>
          <a:p>
            <a:r>
              <a:rPr lang="en-US" altLang="zh-TW" sz="4000" u="sng" dirty="0">
                <a:hlinkClick r:id="rId5"/>
              </a:rPr>
              <a:t>https://www.usgs.gov/publications/pumping-test-eocene-aquifer-near-mayfield-kentucky</a:t>
            </a:r>
            <a:endParaRPr lang="zh-TW" altLang="en-US" sz="4000" dirty="0"/>
          </a:p>
          <a:p>
            <a:br>
              <a:rPr lang="zh-TW" altLang="en-US" sz="4000" dirty="0"/>
            </a:br>
            <a:r>
              <a:rPr lang="en-US" altLang="zh-TW" sz="4000" dirty="0"/>
              <a:t>5.</a:t>
            </a:r>
            <a:r>
              <a:rPr lang="zh-TW" altLang="en-US" sz="4000" dirty="0"/>
              <a:t>論文採集數據集</a:t>
            </a:r>
            <a:endParaRPr lang="en-US" altLang="zh-TW" sz="4000" dirty="0"/>
          </a:p>
          <a:p>
            <a:r>
              <a:rPr lang="en-US" altLang="zh-TW" sz="4000" dirty="0">
                <a:hlinkClick r:id="rId6" action="ppaction://hlinkfile"/>
              </a:rPr>
              <a:t>https://drive.google.com/file/d/1_LfzlaLdU8vWrI-CXOZ9vnoIWCWbRYyW/view?usp=drive_link</a:t>
            </a:r>
            <a:endParaRPr lang="zh-TW" altLang="en-US" sz="4000" dirty="0"/>
          </a:p>
        </p:txBody>
      </p:sp>
    </p:spTree>
    <p:extLst>
      <p:ext uri="{BB962C8B-B14F-4D97-AF65-F5344CB8AC3E}">
        <p14:creationId xmlns:p14="http://schemas.microsoft.com/office/powerpoint/2010/main" val="916291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字方塊 5">
            <a:extLst>
              <a:ext uri="{FF2B5EF4-FFF2-40B4-BE49-F238E27FC236}">
                <a16:creationId xmlns:a16="http://schemas.microsoft.com/office/drawing/2014/main" id="{A7C03996-47EC-F8C4-C240-B683636C9DFC}"/>
              </a:ext>
            </a:extLst>
          </p:cNvPr>
          <p:cNvSpPr txBox="1"/>
          <p:nvPr/>
        </p:nvSpPr>
        <p:spPr>
          <a:xfrm>
            <a:off x="10711544" y="4332514"/>
            <a:ext cx="19376570" cy="17327820"/>
          </a:xfrm>
          <a:prstGeom prst="rect">
            <a:avLst/>
          </a:prstGeom>
          <a:noFill/>
        </p:spPr>
        <p:txBody>
          <a:bodyPr wrap="square" rtlCol="0">
            <a:spAutoFit/>
          </a:bodyPr>
          <a:lstStyle/>
          <a:p>
            <a:r>
              <a:rPr lang="zh-TW" altLang="en-US" sz="4000" dirty="0"/>
              <a:t>抽水試驗數據</a:t>
            </a:r>
          </a:p>
          <a:p>
            <a:r>
              <a:rPr lang="zh-TW" altLang="en-US" sz="4000" dirty="0"/>
              <a:t>抽水井水位降深：「當前水位深度」與「試驗前靜止水位」之間的差值</a:t>
            </a:r>
          </a:p>
          <a:p>
            <a:r>
              <a:rPr lang="zh-TW" altLang="en-US" sz="4000" dirty="0"/>
              <a:t>試驗前靜止水位：從地表量到水面的距離</a:t>
            </a:r>
          </a:p>
          <a:p>
            <a:br>
              <a:rPr lang="zh-TW" altLang="en-US" sz="4000" dirty="0"/>
            </a:br>
            <a:endParaRPr lang="zh-TW" altLang="en-US" sz="4000" dirty="0"/>
          </a:p>
          <a:p>
            <a:r>
              <a:rPr lang="en-US" altLang="zh-TW" sz="4000" dirty="0"/>
              <a:t>1. </a:t>
            </a:r>
            <a:r>
              <a:rPr lang="zh-TW" altLang="en-US" sz="4000" dirty="0"/>
              <a:t>愛達荷州 </a:t>
            </a:r>
            <a:r>
              <a:rPr lang="en-US" altLang="zh-TW" sz="4000" dirty="0"/>
              <a:t>2024/5/29</a:t>
            </a:r>
            <a:endParaRPr lang="zh-TW" altLang="en-US" sz="4000" dirty="0"/>
          </a:p>
          <a:p>
            <a:r>
              <a:rPr lang="zh-TW" altLang="en-US" sz="4000" dirty="0"/>
              <a:t>試驗前靜止水位（從地表量到水面的距離）</a:t>
            </a:r>
            <a:r>
              <a:rPr lang="en-US" altLang="zh-TW" sz="4000" dirty="0"/>
              <a:t>: 119.21m</a:t>
            </a:r>
            <a:endParaRPr lang="zh-TW" altLang="en-US" sz="4000" dirty="0"/>
          </a:p>
          <a:p>
            <a:r>
              <a:rPr lang="en-US" altLang="zh-TW" sz="4000" dirty="0"/>
              <a:t>NRF-18 test2</a:t>
            </a:r>
            <a:endParaRPr lang="zh-TW" altLang="en-US" sz="4000" b="1" dirty="0"/>
          </a:p>
          <a:p>
            <a:r>
              <a:rPr lang="en-US" altLang="zh-TW" sz="4000" u="sng" dirty="0">
                <a:hlinkClick r:id="rId2"/>
              </a:rPr>
              <a:t>https://www.usgs.gov/data/multiple-well-aquifer-test-data-boreholes-nrf-17-and-nrf-18-idaho-national-laboratory-idaho</a:t>
            </a:r>
            <a:endParaRPr lang="zh-TW" altLang="en-US" sz="4000" dirty="0"/>
          </a:p>
          <a:p>
            <a:br>
              <a:rPr lang="zh-TW" altLang="en-US" sz="4000" dirty="0"/>
            </a:br>
            <a:endParaRPr lang="zh-TW" altLang="en-US" sz="4000" dirty="0"/>
          </a:p>
          <a:p>
            <a:r>
              <a:rPr lang="en-US" altLang="zh-TW" sz="4000" dirty="0"/>
              <a:t>2. </a:t>
            </a:r>
            <a:r>
              <a:rPr lang="zh-TW" altLang="en-US" sz="4000" dirty="0"/>
              <a:t>賓州阿姆布里奇</a:t>
            </a:r>
            <a:r>
              <a:rPr lang="en-US" altLang="zh-TW" sz="4000" dirty="0"/>
              <a:t>1949/11/10</a:t>
            </a:r>
            <a:endParaRPr lang="zh-TW" altLang="en-US" sz="4000" dirty="0"/>
          </a:p>
          <a:p>
            <a:r>
              <a:rPr lang="zh-TW" altLang="en-US" sz="4000" dirty="0"/>
              <a:t>兩井相距</a:t>
            </a:r>
            <a:r>
              <a:rPr lang="en-US" altLang="zh-TW" sz="4000" dirty="0"/>
              <a:t>60.96m</a:t>
            </a:r>
            <a:endParaRPr lang="zh-TW" altLang="en-US" sz="4000" dirty="0"/>
          </a:p>
          <a:p>
            <a:r>
              <a:rPr lang="en-US" altLang="zh-TW" sz="4000" u="sng" dirty="0">
                <a:hlinkClick r:id="rId3"/>
              </a:rPr>
              <a:t>https://www.usgs.gov/publications/memorandum-pumping-test-ambridge-pennsylvania</a:t>
            </a:r>
            <a:endParaRPr lang="zh-TW" altLang="en-US" sz="4000" dirty="0"/>
          </a:p>
          <a:p>
            <a:br>
              <a:rPr lang="zh-TW" altLang="en-US" sz="4000" dirty="0"/>
            </a:br>
            <a:endParaRPr lang="zh-TW" altLang="en-US" sz="4000" dirty="0"/>
          </a:p>
          <a:p>
            <a:r>
              <a:rPr lang="en-US" altLang="zh-TW" sz="4000" dirty="0"/>
              <a:t>3. </a:t>
            </a:r>
            <a:r>
              <a:rPr lang="zh-TW" altLang="en-US" sz="4000" dirty="0"/>
              <a:t>華盛頓州普爾曼市</a:t>
            </a:r>
            <a:r>
              <a:rPr lang="en-US" altLang="zh-TW" sz="4000" dirty="0"/>
              <a:t>1957/7/15</a:t>
            </a:r>
            <a:endParaRPr lang="zh-TW" altLang="en-US" sz="4000" dirty="0"/>
          </a:p>
          <a:p>
            <a:r>
              <a:rPr lang="en-US" altLang="zh-TW" sz="4000" u="sng" dirty="0">
                <a:hlinkClick r:id="rId4"/>
              </a:rPr>
              <a:t>https://www.usgs.gov/publications/results-pumping-test-city-well-four-pullman-washington</a:t>
            </a:r>
            <a:endParaRPr lang="zh-TW" altLang="en-US" sz="4000" dirty="0"/>
          </a:p>
          <a:p>
            <a:br>
              <a:rPr lang="zh-TW" altLang="en-US" sz="4000" dirty="0"/>
            </a:br>
            <a:endParaRPr lang="zh-TW" altLang="en-US" sz="4000" dirty="0"/>
          </a:p>
          <a:p>
            <a:r>
              <a:rPr lang="en-US" altLang="zh-TW" sz="4000" dirty="0"/>
              <a:t>4. </a:t>
            </a:r>
            <a:r>
              <a:rPr lang="zh-TW" altLang="en-US" sz="4000" dirty="0"/>
              <a:t>肯塔基州梅菲爾德</a:t>
            </a:r>
            <a:r>
              <a:rPr lang="en-US" altLang="zh-TW" sz="4000" dirty="0"/>
              <a:t>1960/3</a:t>
            </a:r>
            <a:endParaRPr lang="zh-TW" altLang="en-US" sz="4000" b="1" dirty="0"/>
          </a:p>
          <a:p>
            <a:r>
              <a:rPr lang="en-US" altLang="zh-TW" sz="4000" u="sng" dirty="0">
                <a:hlinkClick r:id="rId5"/>
              </a:rPr>
              <a:t>https://www.usgs.gov/publications/pumping-test-eocene-aquifer-near-mayfield-kentucky</a:t>
            </a:r>
            <a:endParaRPr lang="zh-TW" altLang="en-US" sz="4000" dirty="0"/>
          </a:p>
          <a:p>
            <a:br>
              <a:rPr lang="zh-TW" altLang="en-US" sz="4000" dirty="0"/>
            </a:br>
            <a:r>
              <a:rPr lang="en-US" altLang="zh-TW" sz="4000" dirty="0"/>
              <a:t>5.</a:t>
            </a:r>
            <a:r>
              <a:rPr lang="zh-TW" altLang="en-US" sz="4000" dirty="0"/>
              <a:t>論文採集數據集</a:t>
            </a:r>
            <a:endParaRPr lang="en-US" altLang="zh-TW" sz="4000" dirty="0"/>
          </a:p>
          <a:p>
            <a:r>
              <a:rPr lang="en-US" altLang="zh-TW" sz="4000" dirty="0">
                <a:hlinkClick r:id="rId6" action="ppaction://hlinkfile"/>
              </a:rPr>
              <a:t>https://drive.google.com/file/d/1_LfzlaLdU8vWrI-CXOZ9vnoIWCWbRYyW/view?usp=drive_link</a:t>
            </a:r>
            <a:endParaRPr lang="zh-TW" altLang="en-US" sz="4000" dirty="0"/>
          </a:p>
        </p:txBody>
      </p:sp>
    </p:spTree>
    <p:extLst>
      <p:ext uri="{BB962C8B-B14F-4D97-AF65-F5344CB8AC3E}">
        <p14:creationId xmlns:p14="http://schemas.microsoft.com/office/powerpoint/2010/main" val="2618372127"/>
      </p:ext>
    </p:extLst>
  </p:cSld>
  <p:clrMapOvr>
    <a:masterClrMapping/>
  </p:clrMapOvr>
</p:sld>
</file>

<file path=ppt/theme/theme1.xml><?xml version="1.0" encoding="utf-8"?>
<a:theme xmlns:a="http://schemas.openxmlformats.org/drawingml/2006/main" name="Office 2013 - 2022 主題">
  <a:themeElements>
    <a:clrScheme name="Office 2013 - 2022 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25121</TotalTime>
  <Words>1684</Words>
  <Application>Microsoft Office PowerPoint</Application>
  <PresentationFormat>自訂</PresentationFormat>
  <Paragraphs>147</Paragraphs>
  <Slides>5</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5</vt:i4>
      </vt:variant>
    </vt:vector>
  </HeadingPairs>
  <TitlesOfParts>
    <vt:vector size="12" baseType="lpstr">
      <vt:lpstr>標楷體</vt:lpstr>
      <vt:lpstr>Arial</vt:lpstr>
      <vt:lpstr>Calibri</vt:lpstr>
      <vt:lpstr>Calibri Light</vt:lpstr>
      <vt:lpstr>Cambria Math</vt:lpstr>
      <vt:lpstr>Times New Roman</vt:lpstr>
      <vt:lpstr>Office 2013 - 2022 主題</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nhpss10142@gmail.com</dc:creator>
  <cp:lastModifiedBy>沁芳 蔡</cp:lastModifiedBy>
  <cp:revision>16</cp:revision>
  <dcterms:created xsi:type="dcterms:W3CDTF">2023-04-04T07:41:54Z</dcterms:created>
  <dcterms:modified xsi:type="dcterms:W3CDTF">2026-07-04T06:20:01Z</dcterms:modified>
</cp:coreProperties>
</file>